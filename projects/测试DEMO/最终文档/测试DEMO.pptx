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耗时</c:v>
                </c:pt>
              </c:strCache>
            </c:strRef>
          </c:tx>
          <c:dPt>
            <c:idx val="0"/>
            <c:spPr>
              <a:solidFill>
                <a:srgbClr val="A6A6A6"/>
              </a:solidFill>
            </c:spPr>
          </c:dPt>
          <c:dPt>
            <c:idx val="1"/>
            <c:spPr>
              <a:solidFill>
                <a:srgbClr val="1890FF"/>
              </a:solidFill>
            </c:spPr>
          </c:dPt>
          <c:cat>
            <c:strRef>
              <c:f>Sheet1!$A$2:$A$3</c:f>
              <c:strCache>
                <c:ptCount val="2"/>
                <c:pt idx="0">
                  <c:v>手写/Copilot
(Manual/AI)</c:v>
                </c:pt>
                <c:pt idx="1">
                  <c:v>Claude Code
(AI)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</c:scaling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55555"/>
                </a:solidFill>
                <a:latin typeface="Microsoft YaHei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FF8C00"/>
              </a:solidFill>
            </c:spPr>
          </c:dPt>
          <c:dPt>
            <c:idx val="1"/>
            <c:spPr>
              <a:solidFill>
                <a:srgbClr val="777777"/>
              </a:solidFill>
            </c:spPr>
          </c:dPt>
          <c:cat>
            <c:strRef>
              <c:f>Sheet1!$A$2:$A$3</c:f>
              <c:strCache>
                <c:ptCount val="2"/>
                <c:pt idx="0">
                  <c:v>虚构字段</c:v>
                </c:pt>
                <c:pt idx="1">
                  <c:v>其他错误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简单场景：AI 初显 50% 提效潜力 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  <a:latin typeface="Microsoft YaHei"/>
              </a:defRPr>
            </a:pPr>
            <a:r>
              <a:t>案例A —— 标准 ALV 销售订单报表验证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89920" y="457200"/>
            <a:ext cx="73152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A86C8"/>
                </a:solidFill>
                <a:latin typeface="Microsoft YaHei"/>
              </a:defRPr>
            </a:pPr>
            <a:r>
              <a:t>P1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05080"/>
                </a:solidFill>
                <a:latin typeface="Microsoft YaHei"/>
              </a:rPr>
              <a:t>1. 效率突破: </a:t>
            </a:r>
            <a:r>
              <a:rPr sz="1300">
                <a:solidFill>
                  <a:srgbClr val="333333"/>
                </a:solidFill>
                <a:latin typeface="Microsoft YaHei"/>
              </a:rPr>
              <a:t>Claude Code 仅需 30 分钟完成开发，较手写提效 50%。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4297680" cy="12700"/>
          </a:xfrm>
          <a:prstGeom prst="rect">
            <a:avLst/>
          </a:prstGeom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05080"/>
                </a:solidFill>
                <a:latin typeface="Microsoft YaHei"/>
              </a:rPr>
              <a:t>2. 工具差距: </a:t>
            </a:r>
            <a:r>
              <a:rPr sz="1300">
                <a:solidFill>
                  <a:srgbClr val="333333"/>
                </a:solidFill>
                <a:latin typeface="Microsoft YaHei"/>
              </a:rPr>
              <a:t>GitHub Copilot 耗时与手写持平，且因 SQL 不兼容导致运行崩溃。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4160520"/>
            <a:ext cx="4297680" cy="12700"/>
          </a:xfrm>
          <a:prstGeom prst="rect">
            <a:avLst/>
          </a:prstGeom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05080"/>
                </a:solidFill>
                <a:latin typeface="Microsoft YaHei"/>
              </a:rPr>
              <a:t>3. 交互对比: </a:t>
            </a:r>
            <a:r>
              <a:rPr sz="1300">
                <a:solidFill>
                  <a:srgbClr val="333333"/>
                </a:solidFill>
                <a:latin typeface="Microsoft YaHei"/>
              </a:rPr>
              <a:t>Claude 仅需 2 轮提示即可运行，Copilot 需 5 轮以上人工干预。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5212080"/>
            <a:ext cx="4297680" cy="12700"/>
          </a:xfrm>
          <a:prstGeom prst="rect">
            <a:avLst/>
          </a:prstGeom>
          <a:ln w="12700">
            <a:solidFill>
              <a:srgbClr val="EA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4406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4067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05080"/>
                </a:solidFill>
                <a:latin typeface="Microsoft YaHei"/>
              </a:rPr>
              <a:t>4. 核心瓶颈: </a:t>
            </a:r>
            <a:r>
              <a:rPr sz="1300">
                <a:solidFill>
                  <a:srgbClr val="333333"/>
                </a:solidFill>
                <a:latin typeface="Microsoft YaHei"/>
              </a:rPr>
              <a:t>[地址取数逻辑] 与 [过账状态字段] 是 AI 初始生成的共同盲区。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645920"/>
            <a:ext cx="5669280" cy="36576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开发耗时对比 (分钟)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217920" y="2286000"/>
          <a:ext cx="512064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412480" y="2834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⚡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374903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⚠️ 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114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D7D31"/>
                </a:solidFill>
                <a:latin typeface="Microsoft YaHei"/>
              </a:defRPr>
            </a:pPr>
            <a:r>
              <a:t>SQL 不兼容/运行崩溃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194560"/>
            <a:ext cx="1463040" cy="457200"/>
          </a:xfrm>
          <a:prstGeom prst="roundRect">
            <a:avLst/>
          </a:prstGeom>
          <a:solidFill>
            <a:srgbClr val="E1F0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5080"/>
                </a:solidFill>
                <a:latin typeface="Microsoft YaHei"/>
              </a:defRPr>
            </a:pPr>
            <a:r>
              <a:t>50% 提效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5486400"/>
            <a:ext cx="5669280" cy="7315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55778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Microsoft YaHei"/>
              </a:rPr>
              <a:t>✅ ⚡ AI 初显 </a:t>
            </a:r>
            <a:r>
              <a:rPr sz="2200" b="1">
                <a:solidFill>
                  <a:srgbClr val="0066CC"/>
                </a:solidFill>
                <a:latin typeface="Microsoft YaHei"/>
              </a:rPr>
              <a:t>50% 提效潜力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中等难度：陷入“幻觉”与语法泥潭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DDDDD"/>
                </a:solidFill>
              </a:defRPr>
            </a:pPr>
            <a:r>
              <a:t>案例B — 采购配额维护（函数组开发）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错误分布饼图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286000" y="2103120"/>
          <a:ext cx="2286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Isosceles Triangle 5"/>
          <p:cNvSpPr/>
          <p:nvPr/>
        </p:nvSpPr>
        <p:spPr>
          <a:xfrm>
            <a:off x="3246120" y="3063240"/>
            <a:ext cx="365760" cy="365760"/>
          </a:xfrm>
          <a:prstGeom prst="triangle">
            <a:avLst/>
          </a:prstGeom>
          <a:noFill/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3154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DDDDD"/>
                </a:solidFill>
              </a:defRPr>
            </a:pPr>
            <a:r>
              <a:t>其他错误</a:t>
            </a:r>
            <a:br/>
            <a:r>
              <a:t>(Other Errors)</a:t>
            </a:r>
          </a:p>
          <a:p>
            <a:pPr algn="r">
              <a:defRPr sz="1000">
                <a:solidFill>
                  <a:srgbClr val="AAAAAA"/>
                </a:solidFill>
              </a:defRPr>
            </a:pPr>
            <a:r>
              <a:t>21个连锁语法错误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246120"/>
            <a:ext cx="182880" cy="12700"/>
          </a:xfrm>
          <a:prstGeom prst="rect">
            <a:avLst/>
          </a:prstGeom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37744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虚构字段</a:t>
            </a:r>
            <a:br/>
            <a:r>
              <a:t>(AI Hallucinations)</a:t>
            </a:r>
          </a:p>
          <a:p>
            <a:pPr>
              <a:defRPr sz="2800" b="1">
                <a:solidFill>
                  <a:srgbClr val="FF8C00"/>
                </a:solidFill>
              </a:defRPr>
            </a:pPr>
            <a:r>
              <a:t>50%</a:t>
            </a:r>
          </a:p>
          <a:p>
            <a:pPr>
              <a:defRPr sz="1000">
                <a:solidFill>
                  <a:srgbClr val="AAAAAA"/>
                </a:solidFill>
              </a:defRPr>
            </a:pPr>
            <a:r>
              <a:t>9处核心字段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246120"/>
            <a:ext cx="182880" cy="12700"/>
          </a:xfrm>
          <a:prstGeom prst="rect">
            <a:avLst/>
          </a:prstGeom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5486400" cy="2011680"/>
          </a:xfrm>
          <a:prstGeom prst="roundRect">
            <a:avLst/>
          </a:prstGeom>
          <a:solidFill>
            <a:srgbClr val="3333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虚构字段 vs SAP 实际字段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29200"/>
            <a:ext cx="2560320" cy="274320"/>
          </a:xfrm>
          <a:prstGeom prst="roundRect">
            <a:avLst/>
          </a:prstGeom>
          <a:solidFill>
            <a:srgbClr val="553311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虚构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029200"/>
            <a:ext cx="2560320" cy="274320"/>
          </a:xfrm>
          <a:prstGeom prst="roundRect">
            <a:avLst/>
          </a:prstGeom>
          <a:solidFill>
            <a:srgbClr val="555555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SAP 实际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349240"/>
            <a:ext cx="2560320" cy="201168"/>
          </a:xfrm>
          <a:prstGeom prst="roundRect">
            <a:avLst/>
          </a:prstGeom>
          <a:noFill/>
          <a:ln>
            <a:solidFill>
              <a:srgbClr val="FF8C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Z_QUOTA_QTY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3017520" y="5376672"/>
            <a:ext cx="137160" cy="137160"/>
          </a:xfrm>
          <a:prstGeom prst="triangl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7560" y="5349240"/>
            <a:ext cx="2560320" cy="201168"/>
          </a:xfrm>
          <a:prstGeom prst="round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MENG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0" y="5376672"/>
            <a:ext cx="137160" cy="13716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5596128"/>
            <a:ext cx="2560320" cy="201168"/>
          </a:xfrm>
          <a:prstGeom prst="roundRect">
            <a:avLst/>
          </a:prstGeom>
          <a:noFill/>
          <a:ln>
            <a:solidFill>
              <a:srgbClr val="FF8C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Z_SOURCE_VEND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3017520" y="5623560"/>
            <a:ext cx="137160" cy="137160"/>
          </a:xfrm>
          <a:prstGeom prst="triangl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37560" y="5596128"/>
            <a:ext cx="2560320" cy="201168"/>
          </a:xfrm>
          <a:prstGeom prst="round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LIFNR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0" y="5623560"/>
            <a:ext cx="137160" cy="13716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5843016"/>
            <a:ext cx="2560320" cy="201168"/>
          </a:xfrm>
          <a:prstGeom prst="roundRect">
            <a:avLst/>
          </a:prstGeom>
          <a:noFill/>
          <a:ln>
            <a:solidFill>
              <a:srgbClr val="FF8C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Z_QUOTA_UNIT</a:t>
            </a:r>
          </a:p>
        </p:txBody>
      </p:sp>
      <p:sp>
        <p:nvSpPr>
          <p:cNvPr id="25" name="Isosceles Triangle 24"/>
          <p:cNvSpPr/>
          <p:nvPr/>
        </p:nvSpPr>
        <p:spPr>
          <a:xfrm>
            <a:off x="3017520" y="5870448"/>
            <a:ext cx="137160" cy="137160"/>
          </a:xfrm>
          <a:prstGeom prst="triangl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37560" y="5843016"/>
            <a:ext cx="2560320" cy="201168"/>
          </a:xfrm>
          <a:prstGeom prst="round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MEINS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0" y="5870448"/>
            <a:ext cx="137160" cy="13716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6089904"/>
            <a:ext cx="2560320" cy="201168"/>
          </a:xfrm>
          <a:prstGeom prst="roundRect">
            <a:avLst/>
          </a:prstGeom>
          <a:noFill/>
          <a:ln>
            <a:solidFill>
              <a:srgbClr val="FF8C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Z_VALID_TO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3017520" y="6117336"/>
            <a:ext cx="137160" cy="137160"/>
          </a:xfrm>
          <a:prstGeom prst="triangl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37560" y="6089904"/>
            <a:ext cx="2560320" cy="201168"/>
          </a:xfrm>
          <a:prstGeom prst="round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DATBI</a:t>
            </a:r>
          </a:p>
        </p:txBody>
      </p:sp>
      <p:sp>
        <p:nvSpPr>
          <p:cNvPr id="31" name="Oval 30"/>
          <p:cNvSpPr/>
          <p:nvPr/>
        </p:nvSpPr>
        <p:spPr>
          <a:xfrm>
            <a:off x="5669280" y="6117336"/>
            <a:ext cx="137160" cy="13716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6336792"/>
            <a:ext cx="2560320" cy="201168"/>
          </a:xfrm>
          <a:prstGeom prst="roundRect">
            <a:avLst/>
          </a:prstGeom>
          <a:noFill/>
          <a:ln>
            <a:solidFill>
              <a:srgbClr val="FF8C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Z_QUOTA_TYPE</a:t>
            </a:r>
          </a:p>
        </p:txBody>
      </p:sp>
      <p:sp>
        <p:nvSpPr>
          <p:cNvPr id="33" name="Isosceles Triangle 32"/>
          <p:cNvSpPr/>
          <p:nvPr/>
        </p:nvSpPr>
        <p:spPr>
          <a:xfrm>
            <a:off x="3017520" y="6364224"/>
            <a:ext cx="137160" cy="137160"/>
          </a:xfrm>
          <a:prstGeom prst="triangl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37560" y="6336792"/>
            <a:ext cx="2560320" cy="201168"/>
          </a:xfrm>
          <a:prstGeom prst="round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  QUNUM</a:t>
            </a:r>
          </a:p>
        </p:txBody>
      </p:sp>
      <p:sp>
        <p:nvSpPr>
          <p:cNvPr id="35" name="Oval 34"/>
          <p:cNvSpPr/>
          <p:nvPr/>
        </p:nvSpPr>
        <p:spPr>
          <a:xfrm>
            <a:off x="5669280" y="6364224"/>
            <a:ext cx="137160" cy="13716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1463040"/>
            <a:ext cx="5303520" cy="1097280"/>
          </a:xfrm>
          <a:prstGeom prst="roundRect">
            <a:avLst/>
          </a:prstGeom>
          <a:solidFill>
            <a:srgbClr val="333333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75120" y="1783080"/>
            <a:ext cx="457200" cy="457200"/>
          </a:xfrm>
          <a:prstGeom prst="ellipse">
            <a:avLst/>
          </a:prstGeom>
          <a:noFill/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16002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概念误导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19202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Copilot 完全混淆“配额”与“货源”业务模型，代码完全不可用。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743200"/>
            <a:ext cx="5303520" cy="1097280"/>
          </a:xfrm>
          <a:prstGeom prst="roundRect">
            <a:avLst/>
          </a:prstGeom>
          <a:solidFill>
            <a:srgbClr val="333333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75120" y="3063240"/>
            <a:ext cx="457200" cy="457200"/>
          </a:xfrm>
          <a:prstGeom prst="ellipse">
            <a:avLst/>
          </a:prstGeom>
          <a:noFill/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28803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严重幻觉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2004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Claude 虚构 </a:t>
            </a:r>
            <a:r>
              <a:rPr sz="1200">
                <a:solidFill>
                  <a:srgbClr val="FF8C00"/>
                </a:solidFill>
              </a:rPr>
              <a:t>9</a:t>
            </a:r>
            <a:r>
              <a:rPr sz="1200">
                <a:solidFill>
                  <a:srgbClr val="CCCCCC"/>
                </a:solidFill>
              </a:rPr>
              <a:t> 处核心字段（占比 </a:t>
            </a:r>
            <a:r>
              <a:rPr sz="1200">
                <a:solidFill>
                  <a:srgbClr val="FF8C00"/>
                </a:solidFill>
              </a:rPr>
              <a:t>50%</a:t>
            </a:r>
            <a:r>
              <a:rPr sz="1200">
                <a:solidFill>
                  <a:srgbClr val="CCCCCC"/>
                </a:solidFill>
              </a:rPr>
              <a:t>），引发 </a:t>
            </a:r>
            <a:r>
              <a:rPr sz="1200">
                <a:solidFill>
                  <a:srgbClr val="FF8C00"/>
                </a:solidFill>
              </a:rPr>
              <a:t>21</a:t>
            </a:r>
            <a:r>
              <a:rPr sz="1200">
                <a:solidFill>
                  <a:srgbClr val="CCCCCC"/>
                </a:solidFill>
              </a:rPr>
              <a:t> 个连锁语法错误。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023360"/>
            <a:ext cx="5303520" cy="1097280"/>
          </a:xfrm>
          <a:prstGeom prst="roundRect">
            <a:avLst/>
          </a:prstGeom>
          <a:solidFill>
            <a:srgbClr val="333333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675120" y="4343400"/>
            <a:ext cx="457200" cy="457200"/>
          </a:xfrm>
          <a:prstGeom prst="ellipse">
            <a:avLst/>
          </a:prstGeom>
          <a:noFill/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416052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接口违规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AI 无法识别 SAP FM 接口必须使用 DDIC 类型的强制规则。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303520"/>
            <a:ext cx="5303520" cy="1097280"/>
          </a:xfrm>
          <a:prstGeom prst="roundRect">
            <a:avLst/>
          </a:prstGeom>
          <a:solidFill>
            <a:srgbClr val="333333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75120" y="5623560"/>
            <a:ext cx="457200" cy="457200"/>
          </a:xfrm>
          <a:prstGeom prst="ellipse">
            <a:avLst/>
          </a:prstGeom>
          <a:noFill/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44068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效率停滞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57607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修正幻觉字段与重写逻辑的成本已抵消 AI 生成的便利。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</a:rPr>
              <a:t>高复杂度：效率反降 </a:t>
            </a:r>
            <a:r>
              <a:rPr sz="3600" b="1">
                <a:solidFill>
                  <a:srgbClr val="E53935"/>
                </a:solidFill>
                <a:latin typeface="Microsoft YaHei"/>
              </a:rPr>
              <a:t>60%</a:t>
            </a:r>
            <a:r>
              <a:rPr sz="3200" b="1">
                <a:solidFill>
                  <a:srgbClr val="FFFFFF"/>
                </a:solidFill>
                <a:latin typeface="Microsoft YaHei"/>
              </a:rPr>
              <a:t> 的修复陷阱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AAAAA"/>
                </a:solidFill>
                <a:latin typeface="Microsoft YaHei"/>
              </a:defRPr>
            </a:pPr>
            <a:r>
              <a:t>案例C — 跨工厂 STO 报表（18+ 关联表）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2743200" cy="1828800"/>
          </a:xfrm>
          <a:prstGeom prst="rect">
            <a:avLst/>
          </a:prstGeom>
          <a:solidFill>
            <a:srgbClr val="1A1D22"/>
          </a:solidFill>
          <a:ln>
            <a:solidFill>
              <a:srgbClr val="33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1200000">
            <a:off x="914400" y="2560320"/>
            <a:ext cx="1371600" cy="457200"/>
          </a:xfrm>
          <a:prstGeom prst="roundRect">
            <a:avLst/>
          </a:prstGeom>
          <a:noFill/>
          <a:ln w="381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0400000">
            <a:off x="3200400" y="2560320"/>
            <a:ext cx="1371600" cy="457200"/>
          </a:xfrm>
          <a:prstGeom prst="roundRect">
            <a:avLst/>
          </a:prstGeom>
          <a:noFill/>
          <a:ln w="381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2286000"/>
            <a:ext cx="731520" cy="914400"/>
          </a:xfrm>
          <a:prstGeom prst="rect">
            <a:avLst/>
          </a:prstGeom>
          <a:ln w="508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53935"/>
                </a:solidFill>
              </a:defRPr>
            </a:pPr>
            <a:r>
              <a:t>-60%</a:t>
            </a:r>
          </a:p>
          <a:p>
            <a:pPr algn="ctr">
              <a:defRPr sz="2400" b="1">
                <a:solidFill>
                  <a:srgbClr val="E53935"/>
                </a:solidFill>
              </a:defRPr>
            </a:pPr>
            <a:r>
              <a:t>效率损失</a:t>
            </a:r>
          </a:p>
        </p:txBody>
      </p:sp>
      <p:sp>
        <p:nvSpPr>
          <p:cNvPr id="9" name="Down Arrow 8"/>
          <p:cNvSpPr/>
          <p:nvPr/>
        </p:nvSpPr>
        <p:spPr>
          <a:xfrm rot="18900000">
            <a:off x="5303520" y="2926080"/>
            <a:ext cx="731520" cy="914400"/>
          </a:xfrm>
          <a:prstGeom prst="downArrow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120640" cy="2011680"/>
          </a:xfrm>
          <a:prstGeom prst="roundRect">
            <a:avLst/>
          </a:prstGeom>
          <a:solidFill>
            <a:srgbClr val="22262C"/>
          </a:solidFill>
          <a:ln>
            <a:solidFill>
              <a:srgbClr val="3A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AI 修复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194560"/>
            <a:ext cx="4572000" cy="365760"/>
          </a:xfrm>
          <a:prstGeom prst="roundRect">
            <a:avLst/>
          </a:prstGeom>
          <a:solidFill>
            <a:srgbClr val="661111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8 人天 (远超手写)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2286000"/>
            <a:ext cx="182880" cy="18288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31720"/>
            <a:ext cx="12700" cy="457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2377440"/>
            <a:ext cx="45720" cy="1270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743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手写开发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108960"/>
            <a:ext cx="2834640" cy="365760"/>
          </a:xfrm>
          <a:prstGeom prst="roundRect">
            <a:avLst/>
          </a:prstGeom>
          <a:solidFill>
            <a:srgbClr val="3A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5 人天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200400"/>
            <a:ext cx="13716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5943600" cy="2560320"/>
          </a:xfrm>
          <a:prstGeom prst="roundRect">
            <a:avLst/>
          </a:prstGeom>
          <a:solidFill>
            <a:srgbClr val="1A1E24"/>
          </a:solidFill>
          <a:ln>
            <a:solidFill>
              <a:srgbClr val="333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206240"/>
            <a:ext cx="12700" cy="1828800"/>
          </a:xfrm>
          <a:prstGeom prst="rect">
            <a:avLst/>
          </a:prstGeom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6035040"/>
            <a:ext cx="2743200" cy="12700"/>
          </a:xfrm>
          <a:prstGeom prst="rect">
            <a:avLst/>
          </a:prstGeom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868680" y="4114800"/>
            <a:ext cx="91440" cy="13716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3657600" y="5989320"/>
            <a:ext cx="137160" cy="91440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457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错</a:t>
            </a:r>
          </a:p>
          <a:p>
            <a:r>
              <a:t>误</a:t>
            </a:r>
          </a:p>
          <a:p>
            <a:r>
              <a:t>数</a:t>
            </a:r>
          </a:p>
          <a:p>
            <a:r>
              <a:t>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6126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修复迭代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577840"/>
            <a:ext cx="822960" cy="182880"/>
          </a:xfrm>
          <a:prstGeom prst="rect">
            <a:avLst/>
          </a:prstGeom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03120" y="4572000"/>
            <a:ext cx="1097280" cy="1188720"/>
          </a:xfrm>
          <a:prstGeom prst="rect">
            <a:avLst/>
          </a:prstGeom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34439" y="5532120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257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2057400" y="5715000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39" y="5440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2" name="Oval 31"/>
          <p:cNvSpPr/>
          <p:nvPr/>
        </p:nvSpPr>
        <p:spPr>
          <a:xfrm>
            <a:off x="3154680" y="4526280"/>
            <a:ext cx="91440" cy="914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42519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 rot="18900000">
            <a:off x="2194560" y="4937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3935"/>
                </a:solidFill>
              </a:defRPr>
            </a:pPr>
            <a:r>
              <a:t>329</a:t>
            </a:r>
          </a:p>
        </p:txBody>
      </p:sp>
      <p:sp>
        <p:nvSpPr>
          <p:cNvPr id="35" name="Isosceles Triangle 34"/>
          <p:cNvSpPr/>
          <p:nvPr/>
        </p:nvSpPr>
        <p:spPr>
          <a:xfrm>
            <a:off x="3840480" y="4389120"/>
            <a:ext cx="274320" cy="274320"/>
          </a:xfrm>
          <a:prstGeom prst="triangl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43891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343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修复爆炸</a:t>
            </a:r>
          </a:p>
        </p:txBody>
      </p:sp>
      <p:sp>
        <p:nvSpPr>
          <p:cNvPr id="38" name="Explosion 37"/>
          <p:cNvSpPr/>
          <p:nvPr/>
        </p:nvSpPr>
        <p:spPr>
          <a:xfrm>
            <a:off x="5303520" y="4343400"/>
            <a:ext cx="274320" cy="274320"/>
          </a:xfrm>
          <a:prstGeom prst="irregularSeal1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4754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错误呈 </a:t>
            </a:r>
            <a:r>
              <a:rPr sz="1200">
                <a:solidFill>
                  <a:srgbClr val="E53935"/>
                </a:solidFill>
              </a:rPr>
              <a:t>3→2→9</a:t>
            </a:r>
            <a:r>
              <a:rPr sz="1200">
                <a:solidFill>
                  <a:srgbClr val="CCCCCC"/>
                </a:solidFill>
              </a:rPr>
              <a:t> 非线性增长，前序修正引发后续逻辑大规模崩溃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114800"/>
            <a:ext cx="731520" cy="731520"/>
          </a:xfrm>
          <a:prstGeom prst="roundRect">
            <a:avLst/>
          </a:prstGeom>
          <a:solidFill>
            <a:srgbClr val="22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解析能力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389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Claude 虽支持文档解析，但在处理 </a:t>
            </a:r>
            <a:r>
              <a:rPr sz="1200">
                <a:solidFill>
                  <a:srgbClr val="E53935"/>
                </a:solidFill>
              </a:rPr>
              <a:t>10+</a:t>
            </a:r>
            <a:r>
              <a:rPr sz="1200">
                <a:solidFill>
                  <a:srgbClr val="CCCCCC"/>
                </a:solidFill>
              </a:rPr>
              <a:t> 项虚构数据字典时表现乏力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5212080"/>
            <a:ext cx="5120640" cy="12700"/>
          </a:xfrm>
          <a:prstGeom prst="rect">
            <a:avLst/>
          </a:prstGeom>
          <a:ln>
            <a:solidFill>
              <a:srgbClr val="4448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83680" y="5486400"/>
            <a:ext cx="731520" cy="731520"/>
          </a:xfrm>
          <a:prstGeom prst="roundRect">
            <a:avLst/>
          </a:prstGeom>
          <a:solidFill>
            <a:srgbClr val="22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实测评价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760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底层数据结构理解缺失，导致“修复成本 &gt; 直接重写”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FBA78"/>
                </a:solidFill>
              </a:defRPr>
            </a:pPr>
            <a:r>
              <a:t>第4页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ED4A0"/>
                </a:solidFill>
              </a:defRPr>
            </a:pPr>
            <a:r>
              <a:t>结论：复杂度决定 AI 的应用边界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SAP ABAP AI Coding 效能总览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669280" cy="475488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011680"/>
            <a:ext cx="12700" cy="3931920"/>
          </a:xfrm>
          <a:prstGeom prst="rect">
            <a:avLst/>
          </a:prstGeom>
          <a:ln w="25400">
            <a:solidFill>
              <a:srgbClr val="DFB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5943600"/>
            <a:ext cx="5029200" cy="12700"/>
          </a:xfrm>
          <a:prstGeom prst="rect">
            <a:avLst/>
          </a:prstGeom>
          <a:ln w="25400">
            <a:solidFill>
              <a:srgbClr val="DFB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65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FBA78"/>
                </a:solidFill>
              </a:defRPr>
            </a:pPr>
            <a:r>
              <a:t>提</a:t>
            </a:r>
            <a:br/>
            <a:r>
              <a:t>效</a:t>
            </a:r>
            <a:br/>
            <a:r>
              <a:t>百</a:t>
            </a:r>
            <a:br/>
            <a:r>
              <a:t>分</a:t>
            </a:r>
            <a:br/>
            <a:r>
              <a:t>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035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FBA78"/>
                </a:solidFill>
              </a:defRPr>
            </a:pPr>
            <a:r>
              <a:t>任务复杂度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011680"/>
            <a:ext cx="2286000" cy="1828800"/>
          </a:xfrm>
          <a:prstGeom prst="roundRect">
            <a:avLst/>
          </a:prstGeom>
          <a:solidFill>
            <a:srgbClr val="1A2F4C"/>
          </a:solidFill>
          <a:ln w="1270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简单场景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FBA78"/>
                </a:solidFill>
              </a:defRPr>
            </a:pPr>
            <a:r>
              <a:t>50% 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00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辅助逻辑，高收益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011680"/>
            <a:ext cx="2286000" cy="1828800"/>
          </a:xfrm>
          <a:prstGeom prst="roundRect">
            <a:avLst/>
          </a:prstGeom>
          <a:solidFill>
            <a:srgbClr val="1A2F4C"/>
          </a:solidFill>
          <a:ln w="19050">
            <a:solidFill>
              <a:srgbClr val="DFB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79" y="2103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复杂场景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39" y="2103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DFBA78"/>
                </a:solidFill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FBA78"/>
                </a:solidFill>
              </a:defRPr>
            </a:pPr>
            <a:r>
              <a:t>工作量激增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00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效率倒挂，风险高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931920"/>
            <a:ext cx="2286000" cy="1828800"/>
          </a:xfrm>
          <a:prstGeom prst="roundRect">
            <a:avLst/>
          </a:prstGeom>
          <a:solidFill>
            <a:srgbClr val="1A2F4C"/>
          </a:solidFill>
          <a:ln w="1270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中等场景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23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DFBA78"/>
                </a:solidFill>
              </a:defRPr>
            </a:pPr>
            <a:r>
              <a:t>无提升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20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效率持平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3931920"/>
            <a:ext cx="2286000" cy="1828800"/>
          </a:xfrm>
          <a:prstGeom prst="roundRect">
            <a:avLst/>
          </a:prstGeom>
          <a:solidFill>
            <a:srgbClr val="1A2F4C"/>
          </a:solidFill>
          <a:ln w="1270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79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应用禁区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39" y="4023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749039" y="5120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不可靠，需人工完全接管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2834640"/>
            <a:ext cx="2011680" cy="822960"/>
          </a:xfrm>
          <a:prstGeom prst="rect">
            <a:avLst/>
          </a:prstGeom>
          <a:ln w="19050">
            <a:solidFill>
              <a:srgbClr val="DFB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2286000"/>
            <a:ext cx="2011680" cy="1371600"/>
          </a:xfrm>
          <a:prstGeom prst="rect">
            <a:avLst/>
          </a:prstGeom>
          <a:ln w="19050">
            <a:solidFill>
              <a:srgbClr val="DFB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39" y="43891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DFBA78"/>
                </a:solidFill>
              </a:defRPr>
            </a:pPr>
            <a:r>
              <a:t>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4572000"/>
            <a:ext cx="457200" cy="457200"/>
          </a:xfrm>
          <a:prstGeom prst="rect">
            <a:avLst/>
          </a:prstGeom>
          <a:ln w="38100">
            <a:solidFill>
              <a:srgbClr val="DFB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66560" y="1645920"/>
            <a:ext cx="5029200" cy="3474720"/>
          </a:xfrm>
          <a:prstGeom prst="roundRect">
            <a:avLst/>
          </a:prstGeom>
          <a:solidFill>
            <a:srgbClr val="122238"/>
          </a:solidFill>
          <a:ln w="1270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FBA78"/>
                </a:solidFill>
              </a:defRPr>
            </a:pPr>
            <a:r>
              <a:t>四大瓶颈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2194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194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数据字典幻觉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1945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1945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接口规则缺失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修复成本反超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6517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26517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提示词被忽略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3108960"/>
            <a:ext cx="4297680" cy="12700"/>
          </a:xfrm>
          <a:prstGeom prst="rect">
            <a:avLst/>
          </a:prstGeom>
          <a:ln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291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FBA78"/>
                </a:solidFill>
              </a:defRPr>
            </a:pPr>
            <a:r>
              <a:t>工具选型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7490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⚡ Claude 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114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✔ 业务理解优秀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多文件解析强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37490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🤖 Copilot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41148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</a:defRPr>
            </a:pPr>
            <a:r>
              <a:t>✖ 业务理解受限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多文件解析弱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0" y="5303520"/>
            <a:ext cx="5029200" cy="1097280"/>
          </a:xfrm>
          <a:prstGeom prst="roundRect">
            <a:avLst/>
          </a:prstGeom>
          <a:solidFill>
            <a:srgbClr val="122238"/>
          </a:solidFill>
          <a:ln w="19050">
            <a:solidFill>
              <a:srgbClr val="DFB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54864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FBA78"/>
                </a:solidFill>
              </a:rPr>
              <a:t>核心建议：</a:t>
            </a:r>
            <a:r>
              <a:rPr sz="1400">
                <a:solidFill>
                  <a:srgbClr val="FFFFFF"/>
                </a:solidFill>
              </a:rPr>
              <a:t>当前 AI 尚未具备处理 ABAP 中高难度任务的能力，仅推荐用于</a:t>
            </a:r>
            <a:r>
              <a:rPr sz="1400" b="1">
                <a:solidFill>
                  <a:srgbClr val="DFBA78"/>
                </a:solidFill>
              </a:rPr>
              <a:t>辅助简单逻辑</a:t>
            </a:r>
            <a:r>
              <a:rPr sz="1400">
                <a:solidFill>
                  <a:srgbClr val="FFFFFF"/>
                </a:solidFill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