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  <a:latin typeface="Microsoft YaHei"/>
              </a:defRPr>
            </a:pPr>
            <a:r>
              <a:t>结论：复杂度决定 AI 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  <a:latin typeface="Microsoft YaHei"/>
              </a:defRPr>
            </a:pPr>
            <a:r>
              <a:t>SAP ABAP AI Coding 效率与质量总览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9418320" cy="12700"/>
          </a:xfrm>
          <a:prstGeom prst="rect">
            <a:avLst/>
          </a:prstGeom>
          <a:ln w="19050">
            <a:solidFill>
              <a:srgbClr val="0F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6200000">
            <a:off x="1325880" y="2971800"/>
            <a:ext cx="91440" cy="91440"/>
          </a:xfrm>
          <a:prstGeom prst="triangl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10744200" y="2971800"/>
            <a:ext cx="91440" cy="91440"/>
          </a:xfrm>
          <a:prstGeom prst="triangl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9904" y="1645920"/>
            <a:ext cx="12700" cy="2743200"/>
          </a:xfrm>
          <a:prstGeom prst="rect">
            <a:avLst/>
          </a:prstGeom>
          <a:ln w="19050">
            <a:solidFill>
              <a:srgbClr val="0F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6044184" y="1600200"/>
            <a:ext cx="91440" cy="91440"/>
          </a:xfrm>
          <a:prstGeom prst="triangl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6044184" y="4343400"/>
            <a:ext cx="91440" cy="91440"/>
          </a:xfrm>
          <a:prstGeom prst="triangl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98464" y="2926079"/>
            <a:ext cx="182880" cy="182880"/>
          </a:xfrm>
          <a:prstGeom prst="ellipse">
            <a:avLst/>
          </a:prstGeom>
          <a:solidFill>
            <a:srgbClr val="F8F9FA"/>
          </a:solidFill>
          <a:ln w="19050">
            <a:solidFill>
              <a:srgbClr val="0F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latin typeface="Microsoft YaHei"/>
              </a:defRPr>
            </a:pPr>
            <a:r>
              <a:t>任务度</a:t>
            </a:r>
            <a:br/>
            <a:r>
              <a:t>Simple 简单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2743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latin typeface="Microsoft YaHei"/>
              </a:defRPr>
            </a:pPr>
            <a:r>
              <a:t>复杂度</a:t>
            </a:r>
            <a:br/>
            <a:r>
              <a:t>Complex 复杂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1188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latin typeface="Microsoft YaHei"/>
              </a:defRPr>
            </a:pPr>
            <a:r>
              <a:t>效率影响</a:t>
            </a:r>
            <a:br/>
            <a:r>
              <a:t>Positive 正面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4480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latin typeface="Microsoft YaHei"/>
              </a:defRPr>
            </a:pPr>
            <a:r>
              <a:t>Negative 负面</a:t>
            </a:r>
            <a:br/>
            <a:r>
              <a:t>效率影响</a:t>
            </a:r>
          </a:p>
        </p:txBody>
      </p:sp>
      <p:sp>
        <p:nvSpPr>
          <p:cNvPr id="16" name="Oval 15"/>
          <p:cNvSpPr/>
          <p:nvPr/>
        </p:nvSpPr>
        <p:spPr>
          <a:xfrm>
            <a:off x="2651760" y="1874520"/>
            <a:ext cx="320040" cy="320040"/>
          </a:xfrm>
          <a:prstGeom prst="ellipse">
            <a:avLst/>
          </a:prstGeom>
          <a:solidFill>
            <a:srgbClr val="2E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9E66"/>
                </a:solidFill>
                <a:latin typeface="Microsoft YaHei"/>
              </a:defRPr>
            </a:pPr>
            <a:r>
              <a:t>+50% 提效</a:t>
            </a:r>
          </a:p>
          <a:p>
            <a:pPr>
              <a:spcBef>
                <a:spcPts val="500"/>
              </a:spcBef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 简单场景</a:t>
            </a:r>
          </a:p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快速生成工具代码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148840"/>
            <a:ext cx="320040" cy="320040"/>
          </a:xfrm>
          <a:prstGeom prst="ellipse">
            <a:avLst/>
          </a:prstGeom>
          <a:solidFill>
            <a:srgbClr val="7C8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8A9C"/>
                </a:solidFill>
                <a:latin typeface="Microsoft YaHei"/>
              </a:defRPr>
            </a:pPr>
            <a:r>
              <a:t>~0% 持平</a:t>
            </a:r>
          </a:p>
          <a:p>
            <a:pPr>
              <a:spcBef>
                <a:spcPts val="500"/>
              </a:spcBef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 中等场景</a:t>
            </a:r>
          </a:p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需人工修正逻辑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0" y="3337560"/>
            <a:ext cx="320040" cy="32004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534F"/>
                </a:solidFill>
                <a:latin typeface="Microsoft YaHei"/>
              </a:defRPr>
            </a:pPr>
            <a:r>
              <a:t>-60% 效率反降</a:t>
            </a:r>
          </a:p>
          <a:p>
            <a:pPr>
              <a:spcBef>
                <a:spcPts val="500"/>
              </a:spcBef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 复杂场景</a:t>
            </a:r>
          </a:p>
          <a:p>
            <a:pPr>
              <a:defRPr sz="1200">
                <a:solidFill>
                  <a:srgbClr val="595959"/>
                </a:solidFill>
                <a:latin typeface="Microsoft YaHei"/>
              </a:defRPr>
            </a:pPr>
            <a:r>
              <a:t>频繁幻觉与重构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核心洞察与评价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937760"/>
            <a:ext cx="731520" cy="54864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029200"/>
            <a:ext cx="182880" cy="91440"/>
          </a:xfrm>
          <a:prstGeom prst="rect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5120640"/>
            <a:ext cx="182880" cy="182880"/>
          </a:xfrm>
          <a:prstGeom prst="rect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0160" y="5303520"/>
            <a:ext cx="182880" cy="91440"/>
          </a:xfrm>
          <a:prstGeom prst="rect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498348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1560" y="507492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34439" y="525780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34924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47548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latin typeface="Microsoft YaHei"/>
              </a:defRPr>
            </a:pPr>
            <a:r>
              <a:t>效率曲线与工具表现</a:t>
            </a:r>
          </a:p>
          <a:p>
            <a:pPr>
              <a:spcBef>
                <a:spcPts val="300"/>
              </a:spcBef>
              <a:defRPr sz="1100">
                <a:latin typeface="Microsoft YaHei"/>
              </a:defRPr>
            </a:pPr>
            <a:r>
              <a:t> 效率趋势：简单场景提效50%，中等场景持平，复杂场景效率反降60%。</a:t>
            </a:r>
          </a:p>
          <a:p>
            <a:pPr>
              <a:spcBef>
                <a:spcPts val="300"/>
              </a:spcBef>
              <a:defRPr sz="1100">
                <a:latin typeface="Microsoft YaHei"/>
              </a:defRPr>
            </a:pPr>
            <a:r>
              <a:t> 工具评价：Claude Code 在文档解析与逻辑框架上优于 Copilot，但均不精通 SAP 领域。  ，  Copilot</a:t>
            </a:r>
          </a:p>
        </p:txBody>
      </p:sp>
      <p:sp>
        <p:nvSpPr>
          <p:cNvPr id="32" name="Isosceles Triangle 31"/>
          <p:cNvSpPr/>
          <p:nvPr/>
        </p:nvSpPr>
        <p:spPr>
          <a:xfrm>
            <a:off x="6400800" y="4846320"/>
            <a:ext cx="457200" cy="411480"/>
          </a:xfrm>
          <a:prstGeom prst="triangle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892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Microsoft YaHei"/>
              </a:defRPr>
            </a:pPr>
            <a:r>
              <a:t>!</a:t>
            </a:r>
          </a:p>
        </p:txBody>
      </p:sp>
      <p:sp>
        <p:nvSpPr>
          <p:cNvPr id="34" name="Rounded Rectangle 33"/>
          <p:cNvSpPr/>
          <p:nvPr/>
        </p:nvSpPr>
        <p:spPr>
          <a:xfrm rot="2700000">
            <a:off x="6446520" y="5394960"/>
            <a:ext cx="228600" cy="137160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 rot="2700000">
            <a:off x="6583680" y="5532120"/>
            <a:ext cx="228600" cy="137160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5394960"/>
            <a:ext cx="228600" cy="182880"/>
          </a:xfrm>
          <a:prstGeom prst="rect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7548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latin typeface="Microsoft YaHei"/>
              </a:defRPr>
            </a:pPr>
            <a:r>
              <a:t>核心痛点与建议</a:t>
            </a:r>
          </a:p>
          <a:p>
            <a:pPr>
              <a:spcBef>
                <a:spcPts val="300"/>
              </a:spcBef>
              <a:defRPr sz="1100">
                <a:latin typeface="Microsoft YaHei"/>
              </a:defRPr>
            </a:pPr>
            <a:r>
              <a:t> 核心痛点：虚构数据字典与忽略提示词是限制 AI 在 SAP 领域应用的两大死穴。</a:t>
            </a:r>
          </a:p>
          <a:p>
            <a:pPr>
              <a:spcBef>
                <a:spcPts val="300"/>
              </a:spcBef>
              <a:defRPr sz="1100">
                <a:latin typeface="Microsoft YaHei"/>
              </a:defRPr>
            </a:pPr>
            <a:r>
              <a:t> 专家建议：现阶段 AI 仅适用于辅助编写简单工具脚本，无法应对中高复杂度业务。  中高复杂度业务。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6035040"/>
            <a:ext cx="10820095" cy="457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现阶段 AI 仅适用于辅助编写简单工具脚本，无法应对中高复杂度业务。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