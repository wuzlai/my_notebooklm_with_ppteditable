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  <a:latin typeface="Microsoft YaHei"/>
              </a:defRPr>
            </a:pPr>
            <a:r>
              <a:t>中等场景瓶颈：AI “幻觉”引发崩溃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  <a:latin typeface="Microsoft YaHei"/>
              </a:defRPr>
            </a:pPr>
            <a:r>
              <a:t>采购配额维护（中等复杂度）开发验证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53935"/>
                </a:solidFill>
              </a:defRPr>
            </a:pPr>
            <a:r>
              <a:t>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latin typeface="Microsoft YaHei"/>
              </a:defRPr>
            </a:pPr>
            <a:r>
              <a:t>逻辑误区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Copilot 完全混淆业务概念（配额误作货源），代码完全不可用。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53935"/>
                </a:solidFill>
              </a:defRPr>
            </a:pPr>
            <a:r>
              <a:t>⚠️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latin typeface="Microsoft YaHei"/>
              </a:defRPr>
            </a:pPr>
            <a:r>
              <a:t>幻觉严重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Claude Code 虚构字段比例高达 50%，导致 21 个连锁语法错误。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53935"/>
                </a:solidFill>
              </a:defRPr>
            </a:pPr>
            <a:r>
              <a:t>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latin typeface="Microsoft YaHei"/>
              </a:defRPr>
            </a:pPr>
            <a:r>
              <a:t>效率归零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3434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AI 修复成本大于重写成本，整体效率对比手写无任何提升。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120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53935"/>
                </a:solidFill>
              </a:defRPr>
            </a:pPr>
            <a:r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212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latin typeface="Microsoft YaHei"/>
              </a:defRPr>
            </a:pPr>
            <a:r>
              <a:t>规则缺失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5321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  <a:latin typeface="Microsoft YaHei"/>
              </a:defRPr>
            </a:pPr>
            <a:r>
              <a:t>AI 无法准确遵循 SAP 函数接口规范，直接忽略“优先 API”的指令。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80160"/>
            <a:ext cx="54864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3716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53935"/>
                </a:solidFill>
                <a:latin typeface="Arial"/>
              </a:defRPr>
            </a:pPr>
            <a:r>
              <a:t>50% 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031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  <a:latin typeface="Microsoft YaHei"/>
              </a:defRPr>
            </a:pPr>
            <a:r>
              <a:t>虚构字段比例 (Fictional Field Ratio)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14630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E53935"/>
                </a:solidFill>
              </a:defRPr>
            </a:pPr>
            <a:r>
              <a:t>⚠️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7432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Microsoft YaHei"/>
              </a:defRPr>
            </a:pPr>
            <a:r>
              <a:t>字段对比示例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17920" y="310896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04800">
                <a:tc>
                  <a:txBody>
                    <a:bodyPr/>
                    <a:lstStyle/>
                    <a:p>
                      <a:pPr>
                        <a:defRPr sz="1100" b="1">
                          <a:latin typeface="Microsoft YaHei"/>
                        </a:defRPr>
                      </a:pPr>
                      <a:r>
                        <a:t> 虚构字段</a:t>
                      </a:r>
                    </a:p>
                  </a:txBody>
                  <a:tcPr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icrosoft YaHei"/>
                        </a:defRPr>
                      </a:pPr>
                      <a:r>
                        <a:t> 正确字段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latin typeface="Microsoft YaHei"/>
                        </a:defRPr>
                      </a:pPr>
                      <a:r>
                        <a:t>MSEG-QUOTA_ID (不存在)</a:t>
                      </a:r>
                    </a:p>
                  </a:txBody>
                  <a:tcPr>
                    <a:solidFill>
                      <a:srgbClr val="FE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icrosoft YaHei"/>
                        </a:defRPr>
                      </a:pPr>
                      <a:r>
                        <a:t>EKKO-EBELN (采购凭证)</a:t>
                      </a:r>
                    </a:p>
                  </a:txBody>
                  <a:tcPr>
                    <a:solidFill>
                      <a:srgbClr val="F1F8F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latin typeface="Microsoft YaHei"/>
                        </a:defRPr>
                      </a:pPr>
                      <a:r>
                        <a:t>EKPO-ALLOC_QTY (错误逻辑)</a:t>
                      </a:r>
                    </a:p>
                  </a:txBody>
                  <a:tcPr>
                    <a:solidFill>
                      <a:srgbClr val="FE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icrosoft YaHei"/>
                        </a:defRPr>
                      </a:pPr>
                      <a:r>
                        <a:t>EKPO-MENGE (数量)</a:t>
                      </a:r>
                    </a:p>
                  </a:txBody>
                  <a:tcPr>
                    <a:solidFill>
                      <a:srgbClr val="F1F8F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latin typeface="Microsoft YaHei"/>
                        </a:defRPr>
                      </a:pPr>
                      <a:r>
                        <a:t>EKPO-ALLOC_QTY (错误逻辑)</a:t>
                      </a:r>
                    </a:p>
                  </a:txBody>
                  <a:tcPr>
                    <a:solidFill>
                      <a:srgbClr val="FE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icrosoft YaHei"/>
                        </a:defRPr>
                      </a:pPr>
                      <a:r>
                        <a:t>EKPO-MENGE (数量)</a:t>
                      </a:r>
                    </a:p>
                  </a:txBody>
                  <a:tcPr>
                    <a:solidFill>
                      <a:srgbClr val="F1F8F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latin typeface="Microsoft YaHei"/>
                        </a:defRPr>
                      </a:pPr>
                      <a:r>
                        <a:t>EKPO-BLG_ID (不存在)</a:t>
                      </a:r>
                    </a:p>
                  </a:txBody>
                  <a:tcPr>
                    <a:solidFill>
                      <a:srgbClr val="FE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icrosoft YaHei"/>
                        </a:defRPr>
                      </a:pPr>
                      <a:r>
                        <a:t>EKKO-QUOTA (数量)</a:t>
                      </a:r>
                    </a:p>
                  </a:txBody>
                  <a:tcPr>
                    <a:solidFill>
                      <a:srgbClr val="F1F8F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latin typeface="Microsoft YaHei"/>
                        </a:defRPr>
                      </a:pPr>
                      <a:r>
                        <a:t>...</a:t>
                      </a:r>
                    </a:p>
                  </a:txBody>
                  <a:tcPr>
                    <a:solidFill>
                      <a:srgbClr val="FE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icrosoft YaHei"/>
                        </a:defRPr>
                      </a:pPr>
                      <a:r>
                        <a:t>...</a:t>
                      </a:r>
                    </a:p>
                  </a:txBody>
                  <a:tcPr>
                    <a:solidFill>
                      <a:srgbClr val="F1F8F1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6217920" y="5212080"/>
            <a:ext cx="1097280" cy="10972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50%</a:t>
            </a:r>
          </a:p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虚构字段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406640" y="5669280"/>
            <a:ext cx="27432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0" y="5212080"/>
            <a:ext cx="1463040" cy="10972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🔗</a:t>
            </a:r>
          </a:p>
          <a:p>
            <a:pPr algn="ctr"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21 个连锁语法错误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26880" y="5669280"/>
            <a:ext cx="27432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92640" y="5212080"/>
            <a:ext cx="2011680" cy="109728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🚫</a:t>
            </a:r>
          </a:p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AI 修复成本 &gt;&gt; 重写成本，</a:t>
            </a:r>
            <a:br/>
            <a:r>
              <a:t>整体效率对比手写无提升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PAGE 2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