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耗时</c:v>
                </c:pt>
              </c:strCache>
            </c:strRef>
          </c:tx>
          <c:dPt>
            <c:idx val="0"/>
            <c:spPr>
              <a:solidFill>
                <a:srgbClr val="2EA154"/>
              </a:solidFill>
            </c:spPr>
          </c:dPt>
          <c:dPt>
            <c:idx val="1"/>
            <c:spPr>
              <a:solidFill>
                <a:srgbClr val="D93A36"/>
              </a:solidFill>
            </c:spPr>
          </c:dPt>
          <c:dPt>
            <c:idx val="2"/>
            <c:spPr>
              <a:solidFill>
                <a:srgbClr val="D93A3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30 min 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&gt; 60 min 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D93A36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60 min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Claude Code</c:v>
                </c:pt>
                <c:pt idx="1">
                  <c:v>GitHub Copilot</c:v>
                </c:pt>
                <c:pt idx="2">
                  <c:v>手写开发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65</c:v>
                </c:pt>
                <c:pt idx="2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 val="0"/>
        <c:axPos val="b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1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9"/>
                </a:solidFill>
                <a:latin typeface="Microsoft YaHei"/>
              </a:rPr>
              <a:t>简单场景验证：Claude Code 胜出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icrosoft YaHei"/>
              </a:rPr>
              <a:t>销售订单报表查询（低复杂度）效率对比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74519"/>
            <a:ext cx="256032" cy="256032"/>
          </a:xfrm>
          <a:prstGeom prst="ellipse">
            <a:avLst/>
          </a:prstGeom>
          <a:noFill/>
          <a:ln w="19050">
            <a:solidFill>
              <a:srgbClr val="2EA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768096" y="1920240"/>
            <a:ext cx="91440" cy="164592"/>
          </a:xfrm>
          <a:prstGeom prst="upArrow">
            <a:avLst/>
          </a:prstGeom>
          <a:solidFill>
            <a:srgbClr val="2EA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效率拐点：</a:t>
            </a:r>
            <a:r>
              <a:rPr sz="1300">
                <a:solidFill>
                  <a:srgbClr val="000000"/>
                </a:solidFill>
                <a:latin typeface="Microsoft YaHei"/>
              </a:rPr>
              <a:t>Claude Code 耗时 </a:t>
            </a:r>
            <a:r>
              <a:rPr sz="1300" b="1">
                <a:solidFill>
                  <a:srgbClr val="000000"/>
                </a:solidFill>
                <a:latin typeface="Microsoft YaHei"/>
              </a:rPr>
              <a:t>30 分钟</a:t>
            </a:r>
            <a:r>
              <a:rPr sz="1300">
                <a:solidFill>
                  <a:srgbClr val="000000"/>
                </a:solidFill>
                <a:latin typeface="Microsoft YaHei"/>
              </a:rPr>
              <a:t>，较手写开发效率</a:t>
            </a:r>
            <a:r>
              <a:rPr sz="1300" b="1">
                <a:solidFill>
                  <a:srgbClr val="000000"/>
                </a:solidFill>
                <a:latin typeface="Microsoft YaHei"/>
              </a:rPr>
              <a:t>提升 50%</a:t>
            </a:r>
            <a:r>
              <a:rPr sz="130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685800" y="2788920"/>
            <a:ext cx="256032" cy="256032"/>
          </a:xfrm>
          <a:prstGeom prst="triangle">
            <a:avLst/>
          </a:prstGeom>
          <a:noFill/>
          <a:ln w="19050">
            <a:solidFill>
              <a:srgbClr val="D9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D93A36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稳定性差异：</a:t>
            </a:r>
            <a:r>
              <a:rPr sz="1300">
                <a:solidFill>
                  <a:srgbClr val="000000"/>
                </a:solidFill>
                <a:latin typeface="Microsoft YaHei"/>
              </a:rPr>
              <a:t>GitHub Copilot 运行出现 </a:t>
            </a:r>
            <a:r>
              <a:rPr sz="1300" b="1">
                <a:solidFill>
                  <a:srgbClr val="D93A36"/>
                </a:solidFill>
                <a:latin typeface="Microsoft YaHei"/>
              </a:rPr>
              <a:t>Short Dump</a:t>
            </a:r>
            <a:r>
              <a:rPr sz="1300">
                <a:solidFill>
                  <a:srgbClr val="000000"/>
                </a:solidFill>
                <a:latin typeface="Microsoft YaHei"/>
              </a:rPr>
              <a:t>，而 Claude Code </a:t>
            </a:r>
            <a:r>
              <a:rPr sz="1300" b="1">
                <a:solidFill>
                  <a:srgbClr val="2EA154"/>
                </a:solidFill>
                <a:latin typeface="Microsoft YaHei"/>
              </a:rPr>
              <a:t>运行正常</a:t>
            </a:r>
            <a:r>
              <a:rPr sz="130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11" name="Rectangular Callout 10"/>
          <p:cNvSpPr/>
          <p:nvPr/>
        </p:nvSpPr>
        <p:spPr>
          <a:xfrm>
            <a:off x="685800" y="3749039"/>
            <a:ext cx="201168" cy="164592"/>
          </a:xfrm>
          <a:prstGeom prst="wedgeRectCallout">
            <a:avLst/>
          </a:prstGeom>
          <a:noFill/>
          <a:ln w="1905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ular Callout 11"/>
          <p:cNvSpPr/>
          <p:nvPr/>
        </p:nvSpPr>
        <p:spPr>
          <a:xfrm>
            <a:off x="749808" y="3822191"/>
            <a:ext cx="201168" cy="164592"/>
          </a:xfrm>
          <a:prstGeom prst="wedgeRectCallout">
            <a:avLst/>
          </a:prstGeom>
          <a:noFill/>
          <a:ln w="1905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交互成本：</a:t>
            </a:r>
            <a:r>
              <a:rPr sz="1300">
                <a:solidFill>
                  <a:srgbClr val="000000"/>
                </a:solidFill>
                <a:latin typeface="Microsoft YaHei"/>
              </a:rPr>
              <a:t>Claude Code 仅需 </a:t>
            </a:r>
            <a:r>
              <a:rPr sz="1300" b="1">
                <a:solidFill>
                  <a:srgbClr val="000000"/>
                </a:solidFill>
                <a:latin typeface="Microsoft YaHei"/>
              </a:rPr>
              <a:t>2 轮</a:t>
            </a:r>
            <a:r>
              <a:rPr sz="1300">
                <a:solidFill>
                  <a:srgbClr val="000000"/>
                </a:solidFill>
                <a:latin typeface="Microsoft YaHei"/>
              </a:rPr>
              <a:t>人工干预，远优于 Copilot 的 </a:t>
            </a:r>
            <a:r>
              <a:rPr sz="1300" b="1">
                <a:solidFill>
                  <a:srgbClr val="000000"/>
                </a:solidFill>
                <a:latin typeface="Microsoft YaHei"/>
              </a:rPr>
              <a:t>5 轮</a:t>
            </a:r>
            <a:r>
              <a:rPr sz="1300">
                <a:solidFill>
                  <a:srgbClr val="000000"/>
                </a:solidFill>
                <a:latin typeface="Microsoft YaHei"/>
              </a:rPr>
              <a:t>以上。</a:t>
            </a:r>
          </a:p>
        </p:txBody>
      </p:sp>
      <p:sp>
        <p:nvSpPr>
          <p:cNvPr id="14" name="Rounded Rectangle 13"/>
          <p:cNvSpPr/>
          <p:nvPr/>
        </p:nvSpPr>
        <p:spPr>
          <a:xfrm rot="2700000">
            <a:off x="713232" y="4709160"/>
            <a:ext cx="164592" cy="91440"/>
          </a:xfrm>
          <a:prstGeom prst="roundRect">
            <a:avLst/>
          </a:prstGeom>
          <a:noFill/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700000">
            <a:off x="786384" y="4782312"/>
            <a:ext cx="164592" cy="91440"/>
          </a:xfrm>
          <a:prstGeom prst="roundRect">
            <a:avLst/>
          </a:prstGeom>
          <a:noFill/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00000"/>
                </a:solidFill>
                <a:latin typeface="Microsoft YaHei"/>
              </a:rPr>
              <a:t>核心瓶颈：</a:t>
            </a:r>
            <a:r>
              <a:rPr sz="1300">
                <a:solidFill>
                  <a:srgbClr val="000000"/>
                </a:solidFill>
                <a:latin typeface="Microsoft YaHei"/>
              </a:rPr>
              <a:t>两者初次生成均不可直接运行，仍需人工修正 </a:t>
            </a:r>
            <a:r>
              <a:rPr sz="1300" b="1">
                <a:solidFill>
                  <a:srgbClr val="000000"/>
                </a:solidFill>
                <a:latin typeface="Microsoft YaHei"/>
              </a:rPr>
              <a:t>SQL</a:t>
            </a:r>
            <a:r>
              <a:rPr sz="1300">
                <a:solidFill>
                  <a:srgbClr val="000000"/>
                </a:solidFill>
                <a:latin typeface="Microsoft YaHei"/>
              </a:rPr>
              <a:t> 逻辑。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Microsoft YaHei"/>
              </a:rPr>
              <a:t>开发耗时对比（分钟）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852160" y="2011680"/>
          <a:ext cx="58521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852160" y="4114800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A154"/>
                </a:solidFill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29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latin typeface="Microsoft YaHei"/>
              </a:rPr>
              <a:t>效率提升 </a:t>
            </a:r>
            <a:r>
              <a:rPr sz="1600" b="1">
                <a:solidFill>
                  <a:srgbClr val="2EA154"/>
                </a:solidFill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4864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Claude Code vs 手写开发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1148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04120" y="4114800"/>
            <a:ext cx="12700" cy="1828800"/>
          </a:xfrm>
          <a:prstGeom prst="rect">
            <a:avLst/>
          </a:prstGeom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0" y="5029200"/>
            <a:ext cx="3200400" cy="12700"/>
          </a:xfrm>
          <a:prstGeom prst="rect">
            <a:avLst/>
          </a:prstGeom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20624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D93A36"/>
                </a:solidFill>
                <a:latin typeface="Segoe UI Emoji"/>
              </a:rPr>
              <a:t>❌
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Microsoft YaHei"/>
              </a:rPr>
              <a:t>GitHub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20624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D93A36"/>
                </a:solidFill>
                <a:latin typeface="Segoe UI Emoji"/>
              </a:rPr>
              <a:t>❌
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Microsoft YaHei"/>
              </a:rPr>
              <a:t>Short Dump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12064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2EA154"/>
                </a:solidFill>
                <a:latin typeface="Segoe UI Emoji"/>
              </a:rPr>
              <a:t>✅
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Microsoft YaHei"/>
              </a:rPr>
              <a:t>Copilot: 5+ 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5120640"/>
            <a:ext cx="1600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A86C8"/>
                </a:solidFill>
                <a:latin typeface="Segoe UI Emoji"/>
              </a:rPr>
              <a:t>👥
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Microsoft YaHei"/>
              </a:rPr>
              <a:t>Claude Code: 2 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Page 1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