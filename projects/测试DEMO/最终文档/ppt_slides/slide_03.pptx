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3262A"/>
                </a:solidFill>
                <a:latin typeface="Microsoft YaHei"/>
              </a:defRPr>
            </a:pPr>
            <a:r>
              <a:t>案例C：跨工厂 STO 报表验证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  <a:latin typeface="Microsoft YaHei"/>
              </a:defRPr>
            </a:pPr>
            <a:r>
              <a:t>高复杂度场景引发“修复-爆炸”模式，效率反降 60%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943600" cy="4754880"/>
          </a:xfrm>
          <a:prstGeom prst="roundRect">
            <a:avLst/>
          </a:prstGeom>
          <a:solidFill>
            <a:srgbClr val="FDF2F0"/>
          </a:solidFill>
          <a:ln w="12700">
            <a:solidFill>
              <a:srgbClr val="C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noFill/>
          <a:ln w="25400">
            <a:solidFill>
              <a:srgbClr val="A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12700" cy="137160"/>
          </a:xfrm>
          <a:prstGeom prst="rect">
            <a:avLst/>
          </a:prstGeom>
          <a:ln w="25400">
            <a:solidFill>
              <a:srgbClr val="A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37160" cy="12700"/>
          </a:xfrm>
          <a:prstGeom prst="rect">
            <a:avLst/>
          </a:prstGeom>
          <a:ln w="25400">
            <a:solidFill>
              <a:srgbClr val="A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3262A"/>
                </a:solidFill>
              </a:defRPr>
            </a:pPr>
            <a:r>
              <a:t>修复成本超标：</a:t>
            </a:r>
            <a:r>
              <a:rPr b="0">
                <a:solidFill>
                  <a:srgbClr val="222222"/>
                </a:solidFill>
              </a:rPr>
              <a:t>Claude Code 耗时 8 天，比手写（5天）增加 60% 工作量。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Claude Code: 8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606040"/>
            <a:ext cx="2651760" cy="182880"/>
          </a:xfrm>
          <a:prstGeom prst="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331720"/>
            <a:ext cx="640080" cy="228600"/>
          </a:xfrm>
          <a:prstGeom prst="round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手写: 5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926080"/>
            <a:ext cx="1737360" cy="18288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731520" y="3566160"/>
            <a:ext cx="137160" cy="320040"/>
          </a:xfrm>
          <a:prstGeom prst="upArrow">
            <a:avLst/>
          </a:prstGeom>
          <a:noFill/>
          <a:ln w="25400">
            <a:solidFill>
              <a:srgbClr val="A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3262A"/>
                </a:solidFill>
              </a:defRPr>
            </a:pPr>
            <a:r>
              <a:t>!!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3262A"/>
                </a:solidFill>
              </a:defRPr>
            </a:pPr>
            <a:r>
              <a:t>错误爆炸模式：</a:t>
            </a:r>
            <a:r>
              <a:rPr b="0">
                <a:solidFill>
                  <a:srgbClr val="222222"/>
                </a:solidFill>
              </a:rPr>
              <a:t>语法错误随修复不减反增（3→2→9），逻辑产生严重矛盾。</a:t>
            </a:r>
          </a:p>
        </p:txBody>
      </p:sp>
      <p:sp>
        <p:nvSpPr>
          <p:cNvPr id="17" name="Can 16"/>
          <p:cNvSpPr/>
          <p:nvPr/>
        </p:nvSpPr>
        <p:spPr>
          <a:xfrm>
            <a:off x="731520" y="4480560"/>
            <a:ext cx="320040" cy="365760"/>
          </a:xfrm>
          <a:prstGeom prst="can">
            <a:avLst/>
          </a:prstGeom>
          <a:noFill/>
          <a:ln w="25400">
            <a:solidFill>
              <a:srgbClr val="A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914400" y="4663440"/>
            <a:ext cx="228600" cy="228600"/>
          </a:xfrm>
          <a:prstGeom prst="triangle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1772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97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3262A"/>
                </a:solidFill>
              </a:defRPr>
            </a:pPr>
            <a:r>
              <a:t>数据字典幻觉：</a:t>
            </a:r>
            <a:r>
              <a:rPr b="0">
                <a:solidFill>
                  <a:srgbClr val="222222"/>
                </a:solidFill>
              </a:rPr>
              <a:t>累计虚构 10+ 项数据类型与表字段，修正时间远超直接编写。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389120"/>
            <a:ext cx="2377440" cy="731520"/>
          </a:xfrm>
          <a:prstGeom prst="roundRect">
            <a:avLst/>
          </a:prstGeom>
          <a:solidFill>
            <a:srgbClr val="FA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3262A"/>
                </a:solidFill>
                <a:latin typeface="Consolas"/>
              </a:defRPr>
            </a:pPr>
            <a:r>
              <a:t>// Hallucination Detected:</a:t>
            </a:r>
            <a:br/>
            <a:r>
              <a:t>Z_STO_ROUTE_ID (不存在的字段)</a:t>
            </a:r>
            <a:br/>
            <a:r>
              <a:t>...</a:t>
            </a:r>
          </a:p>
        </p:txBody>
      </p:sp>
      <p:sp>
        <p:nvSpPr>
          <p:cNvPr id="22" name="Multiply 21"/>
          <p:cNvSpPr/>
          <p:nvPr/>
        </p:nvSpPr>
        <p:spPr>
          <a:xfrm>
            <a:off x="731520" y="5577840"/>
            <a:ext cx="320040" cy="320040"/>
          </a:xfrm>
          <a:prstGeom prst="mathMultiply">
            <a:avLst/>
          </a:prstGeom>
          <a:solidFill>
            <a:srgbClr val="A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486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3262A"/>
                </a:solidFill>
              </a:defRPr>
            </a:pPr>
            <a:r>
              <a:t>实测结论：</a:t>
            </a:r>
            <a:r>
              <a:rPr b="0">
                <a:solidFill>
                  <a:srgbClr val="222222"/>
                </a:solidFill>
              </a:rPr>
              <a:t>复杂业务流下，AI 无法理解上下文关联，修复可行性为“否”。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64592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修复轮次与错误数趋势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840480"/>
            <a:ext cx="4297680" cy="12700"/>
          </a:xfrm>
          <a:prstGeom prst="rect">
            <a:avLst/>
          </a:prstGeom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6492240" y="2926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错误数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374136"/>
            <a:ext cx="1463040" cy="155448"/>
          </a:xfrm>
          <a:prstGeom prst="rect">
            <a:avLst/>
          </a:prstGeom>
          <a:ln w="38100">
            <a:solidFill>
              <a:srgbClr val="C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2441448"/>
            <a:ext cx="1463040" cy="1088136"/>
          </a:xfrm>
          <a:prstGeom prst="rect">
            <a:avLst/>
          </a:prstGeom>
          <a:ln w="38100">
            <a:solidFill>
              <a:srgbClr val="C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07808" y="3300984"/>
            <a:ext cx="146304" cy="146304"/>
          </a:xfrm>
          <a:prstGeom prst="ellipse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300837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3262A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886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9070848" y="3456432"/>
            <a:ext cx="146304" cy="146304"/>
          </a:xfrm>
          <a:prstGeom prst="ellipse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1638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3262A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886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10533888" y="2368296"/>
            <a:ext cx="146304" cy="146304"/>
          </a:xfrm>
          <a:prstGeom prst="ellipse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9" y="207568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3262A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9" y="3886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148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轮次</a:t>
            </a:r>
          </a:p>
        </p:txBody>
      </p:sp>
      <p:sp>
        <p:nvSpPr>
          <p:cNvPr id="40" name="Right Arrow 39"/>
          <p:cNvSpPr/>
          <p:nvPr/>
        </p:nvSpPr>
        <p:spPr>
          <a:xfrm rot="19200000">
            <a:off x="9326880" y="2743200"/>
            <a:ext cx="1097280" cy="320040"/>
          </a:xfrm>
          <a:prstGeom prst="rightArrow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2926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A3262A"/>
                </a:solidFill>
              </a:defRPr>
            </a:pPr>
            <a:r>
              <a:t>爆炸性增长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572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修复 vs 重写时间对比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5029200"/>
            <a:ext cx="12700" cy="1005840"/>
          </a:xfrm>
          <a:prstGeom prst="rect">
            <a:avLst/>
          </a:prstGeom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0292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Claude Code 修复</a:t>
            </a:r>
            <a:br/>
            <a:r>
              <a:t>(8 天)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5120640"/>
            <a:ext cx="2743200" cy="365760"/>
          </a:xfrm>
          <a:prstGeom prst="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92640" y="5166360"/>
            <a:ext cx="100584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B4335"/>
                </a:solidFill>
              </a:defRPr>
            </a:pPr>
            <a:r>
              <a:t>+60% 时间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6235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手动重写 (5 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5623560"/>
            <a:ext cx="1714500" cy="36576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