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E53935"/>
              </a:solidFill>
            </c:spPr>
          </c:dPt>
          <c:dPt>
            <c:idx val="1"/>
            <c:spPr>
              <a:solidFill>
                <a:srgbClr val="B0BEC5"/>
              </a:solidFill>
            </c:spPr>
          </c:dPt>
          <c:cat>
            <c:strRef>
              <c:f>Sheet1!$A$2:$A$3</c:f>
              <c:strCache>
                <c:ptCount val="2"/>
                <c:pt idx="0">
                  <c:v>虚构字段</c:v>
                </c:pt>
                <c:pt idx="1">
                  <c:v>真实字段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D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731520" cy="365760"/>
          </a:xfrm>
          <a:prstGeom prst="rect">
            <a:avLst/>
          </a:prstGeom>
          <a:solidFill>
            <a:srgbClr val="3A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中等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中等难度：数据字典“幻觉”导致代码不可用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案例B —— 采购配额维护 (中等复杂度验证)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3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800" b="0">
                <a:solidFill>
                  <a:srgbClr val="546E7A"/>
                </a:solidFill>
              </a:defRPr>
            </a:pPr>
            <a: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353312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33333"/>
                </a:solidFill>
                <a:latin typeface="Microsoft YaHei"/>
              </a:rPr>
              <a:t>业务理解偏差：：</a:t>
            </a:r>
            <a:r>
              <a:rPr sz="1300" b="0">
                <a:solidFill>
                  <a:srgbClr val="555555"/>
                </a:solidFill>
                <a:latin typeface="Microsoft YaHei"/>
              </a:rPr>
              <a:t>Copilot 完全混淆采购配额与货源概念，导致核心数据模型错误。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5176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3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800" b="0">
                <a:solidFill>
                  <a:srgbClr val="546E7A"/>
                </a:solidFill>
              </a:defRPr>
            </a:pPr>
            <a:r>
              <a:t>⚠️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33472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33333"/>
                </a:solidFill>
                <a:latin typeface="Microsoft YaHei"/>
              </a:rPr>
              <a:t>虚构字段危机：：</a:t>
            </a:r>
            <a:r>
              <a:rPr sz="1300" b="0">
                <a:solidFill>
                  <a:srgbClr val="555555"/>
                </a:solidFill>
                <a:latin typeface="Microsoft YaHei"/>
              </a:rPr>
              <a:t>Claude Code 虚构字段占比高达 50%，直接引发 21 个连锁语法错误。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926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E53935"/>
                </a:solidFill>
              </a:defRPr>
            </a:pPr>
            <a:r>
              <a:t>50%</a:t>
            </a:r>
          </a:p>
          <a:p>
            <a:r>
              <a:t>虚构字段占比 ⚠️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3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800" b="0">
                <a:solidFill>
                  <a:srgbClr val="546E7A"/>
                </a:solidFill>
              </a:defRPr>
            </a:pPr>
            <a:r>
              <a:t>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13632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33333"/>
                </a:solidFill>
                <a:latin typeface="Microsoft YaHei"/>
              </a:rPr>
              <a:t>接口规范缺失：：</a:t>
            </a:r>
            <a:r>
              <a:rPr sz="1300" b="0">
                <a:solidFill>
                  <a:srgbClr val="555555"/>
                </a:solidFill>
                <a:latin typeface="Microsoft YaHei"/>
              </a:rPr>
              <a:t>AI 无法正确识别 SAP 函数模块 (FM) 接口仅接受 DDIC 类型的规则。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21208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3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800" b="0">
                <a:solidFill>
                  <a:srgbClr val="546E7A"/>
                </a:solidFill>
              </a:defRPr>
            </a:pPr>
            <a:r>
              <a:t>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193792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33333"/>
                </a:solidFill>
                <a:latin typeface="Microsoft YaHei"/>
              </a:rPr>
              <a:t>修复成本极高：：</a:t>
            </a:r>
            <a:r>
              <a:rPr sz="1300" b="0">
                <a:solidFill>
                  <a:srgbClr val="555555"/>
                </a:solidFill>
                <a:latin typeface="Microsoft YaHei"/>
              </a:rPr>
              <a:t>由于虚构字段与逻辑错误交织，AI 生成代码的修复成本远超重写成本。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80160"/>
            <a:ext cx="5486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6949440" y="1554480"/>
            <a:ext cx="1097280" cy="914400"/>
          </a:xfrm>
          <a:prstGeom prst="triangle">
            <a:avLst/>
          </a:prstGeom>
          <a:solidFill>
            <a:srgbClr val="FFCDD2"/>
          </a:solidFill>
          <a:ln w="381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645920"/>
            <a:ext cx="1097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53935"/>
                </a:solidFill>
              </a:defRPr>
            </a:pPr>
            <a:r>
              <a:t>!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961120" y="1371600"/>
          <a:ext cx="182880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144000" y="1828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E53935"/>
                </a:solidFill>
              </a:defRPr>
            </a:pPr>
            <a:r>
              <a:t>50%</a:t>
            </a:r>
          </a:p>
          <a:p>
            <a:r>
              <a:t>虚构字段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1828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50%</a:t>
            </a:r>
          </a:p>
          <a:p>
            <a:r>
              <a:t>真实字段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E53935"/>
                </a:solidFill>
                <a:latin typeface="Microsoft YaHei"/>
              </a:defRPr>
            </a:pPr>
            <a:r>
              <a:t>警告：虚构字段占比过高，引发严重错误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474720"/>
            <a:ext cx="548640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3520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AI生成过程</a:t>
            </a:r>
          </a:p>
          <a:p>
            <a:r>
              <a:t>(Claude Code)</a:t>
            </a:r>
          </a:p>
        </p:txBody>
      </p:sp>
      <p:sp>
        <p:nvSpPr>
          <p:cNvPr id="24" name="Trapezoid 23"/>
          <p:cNvSpPr/>
          <p:nvPr/>
        </p:nvSpPr>
        <p:spPr>
          <a:xfrm rot="10800000">
            <a:off x="6675120" y="3931920"/>
            <a:ext cx="1828800" cy="320040"/>
          </a:xfrm>
          <a:prstGeom prst="trapezoid">
            <a:avLst/>
          </a:prstGeom>
          <a:solidFill>
            <a:srgbClr val="2852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需求输入</a:t>
            </a:r>
          </a:p>
        </p:txBody>
      </p:sp>
      <p:sp>
        <p:nvSpPr>
          <p:cNvPr id="25" name="Trapezoid 24"/>
          <p:cNvSpPr/>
          <p:nvPr/>
        </p:nvSpPr>
        <p:spPr>
          <a:xfrm rot="10800000">
            <a:off x="6903720" y="4297680"/>
            <a:ext cx="1371600" cy="320040"/>
          </a:xfrm>
          <a:prstGeom prst="trapezoid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代码生成</a:t>
            </a:r>
          </a:p>
        </p:txBody>
      </p:sp>
      <p:sp>
        <p:nvSpPr>
          <p:cNvPr id="26" name="Trapezoid 25"/>
          <p:cNvSpPr/>
          <p:nvPr/>
        </p:nvSpPr>
        <p:spPr>
          <a:xfrm rot="10800000">
            <a:off x="7132320" y="4663440"/>
            <a:ext cx="914400" cy="320040"/>
          </a:xfrm>
          <a:prstGeom prst="trapezoid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333333"/>
                </a:solidFill>
              </a:defRPr>
            </a:pPr>
            <a:r>
              <a:t>可用代码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6309360" y="3931920"/>
            <a:ext cx="137160" cy="1097280"/>
          </a:xfrm>
          <a:prstGeom prst="downArrow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240780" y="5074920"/>
            <a:ext cx="274320" cy="27432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40780" y="502920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X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321040" y="4389120"/>
            <a:ext cx="274320" cy="91440"/>
          </a:xfrm>
          <a:prstGeom prst="rightArrow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42519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/>
            </a:pPr>
            <a:r>
              <a:t>数据字典“幻觉”</a:t>
            </a:r>
          </a:p>
          <a:p>
            <a:r>
              <a:t>虚构字段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138160" y="4754880"/>
            <a:ext cx="274320" cy="91440"/>
          </a:xfrm>
          <a:prstGeom prst="rightArrow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4663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/>
            </a:pPr>
            <a:r>
              <a:t>21+ 语法错误</a:t>
            </a:r>
          </a:p>
          <a:p>
            <a:r>
              <a:t>修复成本高</a:t>
            </a:r>
          </a:p>
        </p:txBody>
      </p:sp>
      <p:sp>
        <p:nvSpPr>
          <p:cNvPr id="34" name="&quot;No&quot; Symbol 33"/>
          <p:cNvSpPr/>
          <p:nvPr/>
        </p:nvSpPr>
        <p:spPr>
          <a:xfrm>
            <a:off x="8961120" y="4572000"/>
            <a:ext cx="274320" cy="274320"/>
          </a:xfrm>
          <a:prstGeom prst="noSmoking">
            <a:avLst/>
          </a:prstGeom>
          <a:solidFill>
            <a:srgbClr val="1D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48463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/>
            </a:pPr>
            <a:r>
              <a:t>高遗失,</a:t>
            </a:r>
          </a:p>
          <a:p>
            <a:r>
              <a:t>不可用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074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55555"/>
                </a:solidFill>
              </a:defRPr>
            </a:pPr>
            <a:r>
              <a:t>成功上线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5349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AI生成过程</a:t>
            </a:r>
          </a:p>
          <a:p>
            <a:r>
              <a:t>(Claude Code)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3520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理想过程 / 人工修复</a:t>
            </a:r>
          </a:p>
          <a:p>
            <a:r>
              <a:t>(Contrast)</a:t>
            </a:r>
          </a:p>
        </p:txBody>
      </p:sp>
      <p:sp>
        <p:nvSpPr>
          <p:cNvPr id="39" name="Trapezoid 38"/>
          <p:cNvSpPr/>
          <p:nvPr/>
        </p:nvSpPr>
        <p:spPr>
          <a:xfrm rot="10800000">
            <a:off x="9418320" y="3931920"/>
            <a:ext cx="1828800" cy="320040"/>
          </a:xfrm>
          <a:prstGeom prst="trapezoid">
            <a:avLst/>
          </a:prstGeom>
          <a:solidFill>
            <a:srgbClr val="2852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需求输入</a:t>
            </a:r>
          </a:p>
        </p:txBody>
      </p:sp>
      <p:sp>
        <p:nvSpPr>
          <p:cNvPr id="40" name="Trapezoid 39"/>
          <p:cNvSpPr/>
          <p:nvPr/>
        </p:nvSpPr>
        <p:spPr>
          <a:xfrm rot="10800000">
            <a:off x="9646920" y="4297680"/>
            <a:ext cx="1371600" cy="320040"/>
          </a:xfrm>
          <a:prstGeom prst="trapezoid">
            <a:avLst/>
          </a:prstGeom>
          <a:solidFill>
            <a:srgbClr val="459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人工/高质量代码</a:t>
            </a:r>
          </a:p>
        </p:txBody>
      </p:sp>
      <p:sp>
        <p:nvSpPr>
          <p:cNvPr id="41" name="Trapezoid 40"/>
          <p:cNvSpPr/>
          <p:nvPr/>
        </p:nvSpPr>
        <p:spPr>
          <a:xfrm rot="10800000">
            <a:off x="9875520" y="4663440"/>
            <a:ext cx="914400" cy="320040"/>
          </a:xfrm>
          <a:prstGeom prst="trapezoid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成功上线</a:t>
            </a:r>
          </a:p>
        </p:txBody>
      </p:sp>
      <p:sp>
        <p:nvSpPr>
          <p:cNvPr id="42" name="Up Arrow 41"/>
          <p:cNvSpPr/>
          <p:nvPr/>
        </p:nvSpPr>
        <p:spPr>
          <a:xfrm>
            <a:off x="11430000" y="3931920"/>
            <a:ext cx="137160" cy="1097280"/>
          </a:xfrm>
          <a:prstGeom prst="upArrow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361420" y="5074920"/>
            <a:ext cx="274320" cy="274320"/>
          </a:xfrm>
          <a:prstGeom prst="ellipse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361420" y="502920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5349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/>
            </a:pPr>
            <a:r>
              <a:t>理想过程 / 人工修复</a:t>
            </a:r>
          </a:p>
          <a:p>
            <a:r>
              <a:t>(Contrast)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09360" y="5806440"/>
            <a:ext cx="5303520" cy="59436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58064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4D40"/>
                </a:solidFill>
                <a:latin typeface="Microsoft YaHei"/>
              </a:defRPr>
            </a:pPr>
            <a:r>
              <a:t>核心结论：AI 在数据字典和接口规范上的“幻觉”导致代码质量极低，修复成本远超预期，当前阶段不可直接用于复杂业务场景。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55555"/>
                </a:solidFill>
              </a:defRPr>
            </a:pPr>
            <a:r>
              <a:t>第2页，共4页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