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73152"/>
          <a:lstStyle/>
          <a:p>
            <a:pPr algn="ctr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SAP ABAP AI 效率测评报告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731520"/>
            <a:ext cx="11460175" cy="5852160"/>
          </a:xfrm>
          <a:prstGeom prst="round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B365D"/>
                </a:solidFill>
              </a:defRPr>
            </a:pPr>
            <a:r>
              <a:t>第2页 中等复杂度：深陷“虚构字段”泥潭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555555"/>
                </a:solidFill>
              </a:defRPr>
            </a:pPr>
            <a:r>
              <a:t>案例B - 采购配额维护（中等复杂度）验证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645920" y="21031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业务理解偏差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46888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• Copilot 完全混淆“配额”与“货源”概念。</a:t>
            </a:r>
          </a:p>
          <a:p>
            <a:pPr>
              <a:defRPr sz="1400"/>
            </a:pPr>
            <a:r>
              <a:t> 数据模型从底层开始错误，导致逻辑无法构建。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7472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1645920" y="33832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严重的幻觉现象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8404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实际字段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8404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E2A2B"/>
                </a:solidFill>
              </a:defRPr>
            </a:pPr>
            <a:r>
              <a:t>虚构字段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45920" y="4206240"/>
            <a:ext cx="1097280" cy="914400"/>
          </a:xfrm>
          <a:prstGeom prst="rect">
            <a:avLst/>
          </a:prstGeom>
          <a:solidFill>
            <a:srgbClr val="B0B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0" y="4206240"/>
            <a:ext cx="1828800" cy="914400"/>
          </a:xfrm>
          <a:prstGeom prst="rect">
            <a:avLst/>
          </a:prstGeom>
          <a:solidFill>
            <a:srgbClr val="9E2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9处关键字段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(占比 50%)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663440" y="4297680"/>
            <a:ext cx="1097280" cy="731520"/>
          </a:xfrm>
          <a:prstGeom prst="rightArrow">
            <a:avLst/>
          </a:prstGeom>
          <a:solidFill>
            <a:srgbClr val="C13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连锁关键字段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(21个)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30352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1645920" y="52120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接口规范缺失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557784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• AI 无法识别 SAP 函数模块 (FM) 仅接受 DDIC 类型的硬性规则。</a:t>
            </a:r>
          </a:p>
          <a:p>
            <a:pPr>
              <a:defRPr sz="1400"/>
            </a:pPr>
            <a:r>
              <a:t> 数据类型不匹配导致接口调用必然失败。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530352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6583680" y="52120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开发成本倒挂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557784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• 修复 AI 错误的代码成本已超过直接重写。</a:t>
            </a:r>
          </a:p>
          <a:p>
            <a:pPr>
              <a:defRPr sz="1400"/>
            </a:pPr>
            <a:r>
              <a:t> AI 辅助在该场景下失去价值，带来负面效率。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52160" y="2011680"/>
            <a:ext cx="5760720" cy="3017520"/>
          </a:xfrm>
          <a:prstGeom prst="roundRect">
            <a:avLst/>
          </a:prstGeom>
          <a:solidFill>
            <a:srgbClr val="F9F9F9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0" y="210312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实际字段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210312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E2A2B"/>
                </a:solidFill>
              </a:defRPr>
            </a:pPr>
            <a:r>
              <a:t>虚构字段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21031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E2A2B"/>
                </a:solidFill>
              </a:defRPr>
            </a:pPr>
            <a:r>
              <a:t>连锁语法错误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0" y="2468880"/>
            <a:ext cx="1188720" cy="457200"/>
          </a:xfrm>
          <a:prstGeom prst="rect">
            <a:avLst/>
          </a:prstGeom>
          <a:solidFill>
            <a:srgbClr val="B0B0B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943600" y="2971800"/>
            <a:ext cx="1188720" cy="457200"/>
          </a:xfrm>
          <a:prstGeom prst="rect">
            <a:avLst/>
          </a:prstGeom>
          <a:solidFill>
            <a:srgbClr val="B0B0B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43600" y="3474720"/>
            <a:ext cx="1188720" cy="457200"/>
          </a:xfrm>
          <a:prstGeom prst="rect">
            <a:avLst/>
          </a:prstGeom>
          <a:solidFill>
            <a:srgbClr val="B0B0B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943600" y="3977640"/>
            <a:ext cx="1188720" cy="457200"/>
          </a:xfrm>
          <a:prstGeom prst="rect">
            <a:avLst/>
          </a:prstGeom>
          <a:solidFill>
            <a:srgbClr val="B0B0B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178040" y="2468880"/>
            <a:ext cx="1645920" cy="621792"/>
          </a:xfrm>
          <a:prstGeom prst="rect">
            <a:avLst/>
          </a:prstGeom>
          <a:solidFill>
            <a:srgbClr val="9E2A2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虚构: QUOTA_MATNR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78040" y="3139135"/>
            <a:ext cx="1645920" cy="621792"/>
          </a:xfrm>
          <a:prstGeom prst="rect">
            <a:avLst/>
          </a:prstGeom>
          <a:solidFill>
            <a:srgbClr val="9E2A2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虚构: SOURCE_VENDOR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78040" y="3809390"/>
            <a:ext cx="1645920" cy="621792"/>
          </a:xfrm>
          <a:prstGeom prst="rect">
            <a:avLst/>
          </a:prstGeom>
          <a:solidFill>
            <a:srgbClr val="9E2A2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虚构: VALID_DATE_FROM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8869680" y="3291840"/>
            <a:ext cx="228600" cy="365760"/>
          </a:xfrm>
          <a:prstGeom prst="rightArrow">
            <a:avLst/>
          </a:prstGeom>
          <a:solidFill>
            <a:srgbClr val="C13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144000" y="2468880"/>
            <a:ext cx="2286000" cy="2011680"/>
          </a:xfrm>
          <a:prstGeom prst="rect">
            <a:avLst/>
          </a:prstGeom>
          <a:solidFill>
            <a:srgbClr val="C13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144000" y="2971800"/>
            <a:ext cx="2286000" cy="12700"/>
          </a:xfrm>
          <a:prstGeom prst="rect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144000" y="3474720"/>
            <a:ext cx="2286000" cy="12700"/>
          </a:xfrm>
          <a:prstGeom prst="rect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144000" y="3977640"/>
            <a:ext cx="2286000" cy="12700"/>
          </a:xfrm>
          <a:prstGeom prst="rect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715500" y="2468880"/>
            <a:ext cx="12700" cy="502920"/>
          </a:xfrm>
          <a:prstGeom prst="rect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287000" y="2468880"/>
            <a:ext cx="12700" cy="502920"/>
          </a:xfrm>
          <a:prstGeom prst="rect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858500" y="2468880"/>
            <a:ext cx="12700" cy="502920"/>
          </a:xfrm>
          <a:prstGeom prst="rect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898380" y="2971800"/>
            <a:ext cx="12700" cy="502920"/>
          </a:xfrm>
          <a:prstGeom prst="rect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652760" y="2971800"/>
            <a:ext cx="12700" cy="502920"/>
          </a:xfrm>
          <a:prstGeom prst="rect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715500" y="3474720"/>
            <a:ext cx="12700" cy="502920"/>
          </a:xfrm>
          <a:prstGeom prst="rect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287000" y="3474720"/>
            <a:ext cx="12700" cy="502920"/>
          </a:xfrm>
          <a:prstGeom prst="rect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858500" y="3474720"/>
            <a:ext cx="12700" cy="502920"/>
          </a:xfrm>
          <a:prstGeom prst="rect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898380" y="3977640"/>
            <a:ext cx="12700" cy="502920"/>
          </a:xfrm>
          <a:prstGeom prst="rect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652760" y="3977640"/>
            <a:ext cx="12700" cy="502920"/>
          </a:xfrm>
          <a:prstGeom prst="rect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326880" y="2834640"/>
            <a:ext cx="1920240" cy="1280160"/>
          </a:xfrm>
          <a:prstGeom prst="rect">
            <a:avLst/>
          </a:prstGeom>
          <a:solidFill>
            <a:srgbClr val="9E2A2B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连锁语法错误</a:t>
            </a:r>
          </a:p>
          <a:p>
            <a:pPr algn="ctr">
              <a:defRPr sz="1600" b="1">
                <a:solidFill>
                  <a:srgbClr val="FFFFFF"/>
                </a:solidFill>
              </a:defRPr>
            </a:pPr>
            <a:r>
              <a:t>(21个)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52160" y="4572000"/>
            <a:ext cx="5760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000000"/>
                </a:solidFill>
              </a:defRPr>
            </a:pPr>
            <a:r>
              <a:t>Claude Code 虚构了关键字段，引发 21 个连锁语法错误。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