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2"/>
  <c:chart>
    <c:title>
      <c:tx>
        <c:rich>
          <a:bodyPr/>
          <a:lstStyle/>
          <a:p>
            <a:pPr>
              <a:defRPr sz="1400" b="1">
                <a:latin typeface="Microsoft YaHei"/>
              </a:defRPr>
            </a:pPr>
            <a:r>
              <a:t>开发耗时对比（分钟）</a:t>
            </a:r>
          </a:p>
        </c:rich>
      </c:tx>
      <c:layout/>
      <c:overlay val="0"/>
    </c:title>
    <c:autoTitleDeleted val="0"/>
    <c:plotArea>
      <c:barChart>
        <c:barDir val="bar"/>
        <c:grouping val="clustered"/>
        <c:ser>
          <c:idx val="0"/>
          <c:order val="0"/>
          <c:tx>
            <c:strRef>
              <c:f>Sheet1!$B$1</c:f>
              <c:strCache>
                <c:ptCount val="1"/>
                <c:pt idx="0">
                  <c:v/>
                </c:pt>
              </c:strCache>
            </c:strRef>
          </c:tx>
          <c:spPr>
            <a:solidFill>
              <a:srgbClr val="00BCD4"/>
            </a:solidFill>
          </c:spPr>
          <c:dPt>
            <c:idx val="0"/>
            <c:spPr>
              <a:solidFill>
                <a:srgbClr val="A6A6A6"/>
              </a:solidFill>
            </c:spPr>
          </c:dPt>
          <c:dPt>
            <c:idx val="1"/>
            <c:spPr>
              <a:solidFill>
                <a:srgbClr val="00BCD4"/>
              </a:solidFill>
            </c:spPr>
          </c:dPt>
          <c:dPt>
            <c:idx val="2"/>
            <c:spPr>
              <a:solidFill>
                <a:srgbClr val="A6A6A6"/>
              </a:solidFill>
            </c:spPr>
          </c:dPt>
          <c:dLbls>
            <c:numFmt formatCode="0.#" sourceLinked="0"/>
            <c:txPr>
              <a:bodyPr/>
              <a:lstStyle/>
              <a:p>
                <a:pPr>
                  <a:defRPr sz="1300" b="1">
                    <a:solidFill>
                      <a:srgbClr val="333333"/>
                    </a:solidFill>
                  </a:defRPr>
                </a:pPr>
              </a:p>
            </c:txPr>
            <c:showLegendKey val="0"/>
            <c:showVal val="1"/>
            <c:showCatName val="0"/>
            <c:showSerName val="0"/>
            <c:showPercent val="0"/>
            <c:showBubbleSize val="0"/>
            <c:showLeaderLines val="1"/>
          </c:dLbls>
          <c:cat>
            <c:strRef>
              <c:f>Sheet1!$A$2:$A$4</c:f>
              <c:strCache>
                <c:ptCount val="3"/>
                <c:pt idx="0">
                  <c:v>Copilot</c:v>
                </c:pt>
                <c:pt idx="1">
                  <c:v>Claude Code</c:v>
                </c:pt>
                <c:pt idx="2">
                  <c:v>手写开发</c:v>
                </c:pt>
              </c:strCache>
            </c:strRef>
          </c:cat>
          <c:val>
            <c:numRef>
              <c:f>Sheet1!$B$2:$B$4</c:f>
              <c:numCache>
                <c:formatCode>General</c:formatCode>
                <c:ptCount val="3"/>
                <c:pt idx="0">
                  <c:v>60</c:v>
                </c:pt>
                <c:pt idx="1">
                  <c:v>30</c:v>
                </c:pt>
                <c:pt idx="2">
                  <c:v>60</c:v>
                </c:pt>
              </c:numCache>
            </c:numRef>
          </c:val>
        </c:ser>
        <c:gapWidth val="100"/>
        <c:axId val="-2068027336"/>
        <c:axId val="-2113994440"/>
      </c:barChart>
      <c:catAx>
        <c:axId val="-2068027336"/>
        <c:scaling>
          <c:orientation val="minMax"/>
        </c:scaling>
        <c:delete val="0"/>
        <c:axPos val="l"/>
        <c:majorTickMark val="in"/>
        <c:minorTickMark val="none"/>
        <c:tickLblPos val="nextTo"/>
        <c:spPr>
          <a:ln>
            <a:noFill/>
          </a:ln>
        </c:spPr>
        <c:txPr>
          <a:bodyPr/>
          <a:lstStyle/>
          <a:p>
            <a:pPr>
              <a:defRPr sz="1200">
                <a:latin typeface="Microsoft YaHei"/>
              </a:defRPr>
            </a:pPr>
          </a:p>
        </c:txPr>
        <c:crossAx val="-2113994440"/>
        <c:crosses val="autoZero"/>
        <c:auto val="1"/>
        <c:lblAlgn val="ctr"/>
        <c:lblOffset val="100"/>
        <c:noMultiLvlLbl val="0"/>
      </c:catAx>
      <c:valAx>
        <c:axId val="-2113994440"/>
        <c:scaling/>
        <c:delete/>
        <c:axPos val="b"/>
        <c:majorGridlines>
          <c:spPr>
            <a:ln>
              <a:noFill/>
            </a:ln>
          </c:spPr>
        </c:majorGridlines>
        <c:majorTickMark val="in"/>
        <c:minorTickMark val="none"/>
        <c:tickLblPos val="nextTo"/>
        <c:spPr>
          <a:ln>
            <a:noFill/>
          </a:ln>
        </c:sp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1555C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73152"/>
          <a:lstStyle/>
          <a:p>
            <a:pPr algn="ctr">
              <a:defRPr sz="2600" b="1">
                <a:solidFill>
                  <a:srgbClr val="FFFFFF"/>
                </a:solidFill>
                <a:latin typeface="Microsoft YaHei"/>
              </a:defRPr>
            </a:pPr>
            <a:r>
              <a:t>简单场景：AI 提效显著但仍需人工干预</a:t>
            </a:r>
          </a:p>
        </p:txBody>
      </p:sp>
      <p:sp>
        <p:nvSpPr>
          <p:cNvPr id="3" name="TextBox 2"/>
          <p:cNvSpPr txBox="1"/>
          <p:nvPr/>
        </p:nvSpPr>
        <p:spPr>
          <a:xfrm>
            <a:off x="457200" y="1097280"/>
            <a:ext cx="10972800" cy="365760"/>
          </a:xfrm>
          <a:prstGeom prst="rect">
            <a:avLst/>
          </a:prstGeom>
          <a:noFill/>
        </p:spPr>
        <p:txBody>
          <a:bodyPr wrap="square">
            <a:spAutoFit/>
          </a:bodyPr>
          <a:lstStyle/>
          <a:p>
            <a:pPr>
              <a:defRPr sz="1800" b="1">
                <a:solidFill>
                  <a:srgbClr val="333333"/>
                </a:solidFill>
                <a:latin typeface="Microsoft YaHei"/>
              </a:defRPr>
            </a:pPr>
            <a:r>
              <a:t>案例A — 销售订单报表查询（低复杂度验证）</a:t>
            </a:r>
          </a:p>
        </p:txBody>
      </p:sp>
      <p:sp>
        <p:nvSpPr>
          <p:cNvPr id="4" name="Rounded Rectangle 3"/>
          <p:cNvSpPr/>
          <p:nvPr/>
        </p:nvSpPr>
        <p:spPr>
          <a:xfrm>
            <a:off x="457200" y="1828800"/>
            <a:ext cx="438912" cy="438912"/>
          </a:xfrm>
          <a:prstGeom prst="roundRect">
            <a:avLst>
              <a:gd name="adj" fmla="val 25000"/>
            </a:avLst>
          </a:prstGeom>
          <a:solidFill>
            <a:srgbClr val="E3E8E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800" b="0">
                <a:solidFill>
                  <a:srgbClr val="546E7A"/>
                </a:solidFill>
              </a:defRPr>
            </a:pPr>
            <a:r>
              <a:t>⚡</a:t>
            </a:r>
          </a:p>
        </p:txBody>
      </p:sp>
      <p:sp>
        <p:nvSpPr>
          <p:cNvPr id="5" name="TextBox 4"/>
          <p:cNvSpPr txBox="1"/>
          <p:nvPr/>
        </p:nvSpPr>
        <p:spPr>
          <a:xfrm>
            <a:off x="1051560" y="1810512"/>
            <a:ext cx="5029200" cy="594360"/>
          </a:xfrm>
          <a:prstGeom prst="rect">
            <a:avLst/>
          </a:prstGeom>
          <a:noFill/>
        </p:spPr>
        <p:txBody>
          <a:bodyPr wrap="square">
            <a:spAutoFit/>
          </a:bodyPr>
          <a:lstStyle/>
          <a:p>
            <a:r>
              <a:rPr sz="1400" b="1">
                <a:solidFill>
                  <a:srgbClr val="333333"/>
                </a:solidFill>
                <a:latin typeface="Microsoft YaHei"/>
              </a:rPr>
              <a:t>效率对比：：</a:t>
            </a:r>
            <a:r>
              <a:rPr sz="1300" b="0">
                <a:solidFill>
                  <a:srgbClr val="555555"/>
                </a:solidFill>
                <a:latin typeface="Microsoft YaHei"/>
              </a:rPr>
              <a:t>Claude Code 耗时仅 30 分钟，较手写开发提效 50%，而 Copilot 无明显提升。</a:t>
            </a:r>
          </a:p>
        </p:txBody>
      </p:sp>
      <p:sp>
        <p:nvSpPr>
          <p:cNvPr id="6" name="Rounded Rectangle 5"/>
          <p:cNvSpPr/>
          <p:nvPr/>
        </p:nvSpPr>
        <p:spPr>
          <a:xfrm>
            <a:off x="457200" y="2926080"/>
            <a:ext cx="438912" cy="438912"/>
          </a:xfrm>
          <a:prstGeom prst="roundRect">
            <a:avLst>
              <a:gd name="adj" fmla="val 25000"/>
            </a:avLst>
          </a:prstGeom>
          <a:solidFill>
            <a:srgbClr val="E3E8E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800" b="0">
                <a:solidFill>
                  <a:srgbClr val="546E7A"/>
                </a:solidFill>
              </a:defRPr>
            </a:pPr>
            <a:r>
              <a:t>🐛</a:t>
            </a:r>
          </a:p>
        </p:txBody>
      </p:sp>
      <p:sp>
        <p:nvSpPr>
          <p:cNvPr id="7" name="TextBox 6"/>
          <p:cNvSpPr txBox="1"/>
          <p:nvPr/>
        </p:nvSpPr>
        <p:spPr>
          <a:xfrm>
            <a:off x="1051560" y="2907792"/>
            <a:ext cx="5029200" cy="594360"/>
          </a:xfrm>
          <a:prstGeom prst="rect">
            <a:avLst/>
          </a:prstGeom>
          <a:noFill/>
        </p:spPr>
        <p:txBody>
          <a:bodyPr wrap="square">
            <a:spAutoFit/>
          </a:bodyPr>
          <a:lstStyle/>
          <a:p>
            <a:r>
              <a:rPr sz="1400" b="1">
                <a:solidFill>
                  <a:srgbClr val="333333"/>
                </a:solidFill>
                <a:latin typeface="Microsoft YaHei"/>
              </a:rPr>
              <a:t>生成质量：：</a:t>
            </a:r>
            <a:r>
              <a:rPr sz="1300" b="0">
                <a:solidFill>
                  <a:srgbClr val="555555"/>
                </a:solidFill>
                <a:latin typeface="Microsoft YaHei"/>
              </a:rPr>
              <a:t>两款 AI 初次生成均无法直接运行，均存在地址取数逻辑或字段虚构问题。</a:t>
            </a:r>
          </a:p>
        </p:txBody>
      </p:sp>
      <p:sp>
        <p:nvSpPr>
          <p:cNvPr id="8" name="Rounded Rectangle 7"/>
          <p:cNvSpPr/>
          <p:nvPr/>
        </p:nvSpPr>
        <p:spPr>
          <a:xfrm>
            <a:off x="457200" y="4023360"/>
            <a:ext cx="438912" cy="438912"/>
          </a:xfrm>
          <a:prstGeom prst="roundRect">
            <a:avLst>
              <a:gd name="adj" fmla="val 25000"/>
            </a:avLst>
          </a:prstGeom>
          <a:solidFill>
            <a:srgbClr val="E3E8E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800" b="0">
                <a:solidFill>
                  <a:srgbClr val="546E7A"/>
                </a:solidFill>
              </a:defRPr>
            </a:pPr>
            <a:r>
              <a:t>🛡️</a:t>
            </a:r>
          </a:p>
        </p:txBody>
      </p:sp>
      <p:sp>
        <p:nvSpPr>
          <p:cNvPr id="9" name="TextBox 8"/>
          <p:cNvSpPr txBox="1"/>
          <p:nvPr/>
        </p:nvSpPr>
        <p:spPr>
          <a:xfrm>
            <a:off x="1051560" y="4005072"/>
            <a:ext cx="5029200" cy="594360"/>
          </a:xfrm>
          <a:prstGeom prst="rect">
            <a:avLst/>
          </a:prstGeom>
          <a:noFill/>
        </p:spPr>
        <p:txBody>
          <a:bodyPr wrap="square">
            <a:spAutoFit/>
          </a:bodyPr>
          <a:lstStyle/>
          <a:p>
            <a:r>
              <a:rPr sz="1400" b="1">
                <a:solidFill>
                  <a:srgbClr val="333333"/>
                </a:solidFill>
                <a:latin typeface="Microsoft YaHei"/>
              </a:rPr>
              <a:t>运行风险：：</a:t>
            </a:r>
            <a:r>
              <a:rPr sz="1300" b="0">
                <a:solidFill>
                  <a:srgbClr val="555555"/>
                </a:solidFill>
                <a:latin typeface="Microsoft YaHei"/>
              </a:rPr>
              <a:t>Copilot 生成代码导致系统崩溃 (Short Dump)，Claude Code 运行相对平稳。</a:t>
            </a:r>
          </a:p>
        </p:txBody>
      </p:sp>
      <p:sp>
        <p:nvSpPr>
          <p:cNvPr id="10" name="Rounded Rectangle 9"/>
          <p:cNvSpPr/>
          <p:nvPr/>
        </p:nvSpPr>
        <p:spPr>
          <a:xfrm>
            <a:off x="457200" y="5120640"/>
            <a:ext cx="438912" cy="438912"/>
          </a:xfrm>
          <a:prstGeom prst="roundRect">
            <a:avLst>
              <a:gd name="adj" fmla="val 25000"/>
            </a:avLst>
          </a:prstGeom>
          <a:solidFill>
            <a:srgbClr val="E3E8E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800" b="0">
                <a:solidFill>
                  <a:srgbClr val="546E7A"/>
                </a:solidFill>
              </a:defRPr>
            </a:pPr>
            <a:r>
              <a:t>⚙️</a:t>
            </a:r>
          </a:p>
        </p:txBody>
      </p:sp>
      <p:sp>
        <p:nvSpPr>
          <p:cNvPr id="11" name="TextBox 10"/>
          <p:cNvSpPr txBox="1"/>
          <p:nvPr/>
        </p:nvSpPr>
        <p:spPr>
          <a:xfrm>
            <a:off x="1051560" y="5102352"/>
            <a:ext cx="5029200" cy="594360"/>
          </a:xfrm>
          <a:prstGeom prst="rect">
            <a:avLst/>
          </a:prstGeom>
          <a:noFill/>
        </p:spPr>
        <p:txBody>
          <a:bodyPr wrap="square">
            <a:spAutoFit/>
          </a:bodyPr>
          <a:lstStyle/>
          <a:p>
            <a:r>
              <a:rPr sz="1400" b="1">
                <a:solidFill>
                  <a:srgbClr val="333333"/>
                </a:solidFill>
                <a:latin typeface="Microsoft YaHei"/>
              </a:rPr>
              <a:t>性能瓶颈：：</a:t>
            </a:r>
            <a:r>
              <a:rPr sz="1300" b="0">
                <a:solidFill>
                  <a:srgbClr val="555555"/>
                </a:solidFill>
                <a:latin typeface="Microsoft YaHei"/>
              </a:rPr>
              <a:t>AI 在 SQL 优化方面表现欠缺，存在大表关联不当及未去重等性能隐患。</a:t>
            </a:r>
          </a:p>
        </p:txBody>
      </p:sp>
      <p:sp>
        <p:nvSpPr>
          <p:cNvPr id="12" name="Rectangle 11"/>
          <p:cNvSpPr/>
          <p:nvPr/>
        </p:nvSpPr>
        <p:spPr>
          <a:xfrm>
            <a:off x="5852160" y="1828800"/>
            <a:ext cx="12700" cy="41148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Chart 12"/>
          <p:cNvGraphicFramePr>
            <a:graphicFrameLocks noGrp="1"/>
          </p:cNvGraphicFramePr>
          <p:nvPr/>
        </p:nvGraphicFramePr>
        <p:xfrm>
          <a:off x="6217920" y="1645920"/>
          <a:ext cx="5486400" cy="3200400"/>
        </p:xfrm>
        <a:graphic>
          <a:graphicData uri="http://schemas.openxmlformats.org/drawingml/2006/chart">
            <c:chart xmlns:c="http://schemas.openxmlformats.org/drawingml/2006/chart" r:id="rId2"/>
          </a:graphicData>
        </a:graphic>
      </p:graphicFrame>
      <p:sp>
        <p:nvSpPr>
          <p:cNvPr id="14" name="Rounded Rectangle 13"/>
          <p:cNvSpPr/>
          <p:nvPr/>
        </p:nvSpPr>
        <p:spPr>
          <a:xfrm>
            <a:off x="9144000" y="2743200"/>
            <a:ext cx="1188720" cy="274320"/>
          </a:xfrm>
          <a:prstGeom prst="round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lIns="50800" rIns="50800" tIns="12700" bIns="12700"/>
          <a:lstStyle/>
          <a:p>
            <a:pPr algn="ctr">
              <a:defRPr sz="1100" b="1">
                <a:solidFill>
                  <a:srgbClr val="FFFFFF"/>
                </a:solidFill>
                <a:latin typeface="Microsoft YaHei"/>
              </a:defRPr>
            </a:pPr>
            <a:r>
              <a:t>提效 50%</a:t>
            </a:r>
          </a:p>
        </p:txBody>
      </p:sp>
      <p:sp>
        <p:nvSpPr>
          <p:cNvPr id="15" name="Rounded Rectangle 14"/>
          <p:cNvSpPr/>
          <p:nvPr/>
        </p:nvSpPr>
        <p:spPr>
          <a:xfrm>
            <a:off x="10607040" y="3840480"/>
            <a:ext cx="1188720" cy="274320"/>
          </a:xfrm>
          <a:prstGeom prst="roundRect">
            <a:avLst/>
          </a:prstGeom>
          <a:solidFill>
            <a:srgbClr val="A6A6A6"/>
          </a:solidFill>
          <a:ln>
            <a:noFill/>
          </a:ln>
        </p:spPr>
        <p:style>
          <a:lnRef idx="1">
            <a:schemeClr val="accent1"/>
          </a:lnRef>
          <a:fillRef idx="3">
            <a:schemeClr val="accent1"/>
          </a:fillRef>
          <a:effectRef idx="2">
            <a:schemeClr val="accent1"/>
          </a:effectRef>
          <a:fontRef idx="minor">
            <a:schemeClr val="lt1"/>
          </a:fontRef>
        </p:style>
        <p:txBody>
          <a:bodyPr rtlCol="0" anchor="ctr" lIns="50800" rIns="50800" tIns="12700" bIns="12700"/>
          <a:lstStyle/>
          <a:p>
            <a:pPr algn="ctr">
              <a:defRPr sz="1100" b="1">
                <a:solidFill>
                  <a:srgbClr val="FFFFFF"/>
                </a:solidFill>
                <a:latin typeface="Microsoft YaHei"/>
              </a:defRPr>
            </a:pPr>
            <a:r>
              <a:t>无明显提升</a:t>
            </a:r>
          </a:p>
        </p:txBody>
      </p:sp>
      <p:sp>
        <p:nvSpPr>
          <p:cNvPr id="16" name="TextBox 15"/>
          <p:cNvSpPr txBox="1"/>
          <p:nvPr/>
        </p:nvSpPr>
        <p:spPr>
          <a:xfrm>
            <a:off x="6217920" y="5120640"/>
            <a:ext cx="5486400" cy="640080"/>
          </a:xfrm>
          <a:prstGeom prst="rect">
            <a:avLst/>
          </a:prstGeom>
          <a:noFill/>
        </p:spPr>
        <p:txBody>
          <a:bodyPr wrap="square">
            <a:spAutoFit/>
          </a:bodyPr>
          <a:lstStyle/>
          <a:p>
            <a:r>
              <a:rPr sz="1300" b="1">
                <a:solidFill>
                  <a:srgbClr val="333333"/>
                </a:solidFill>
                <a:latin typeface="Microsoft YaHei"/>
              </a:rPr>
              <a:t>核心结论：在简单场景下，Claude Code 展现出显著的速度优势，但两款工具生成的代码均需人工深度介入进行逻辑修正和性能优化才能交付使用。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